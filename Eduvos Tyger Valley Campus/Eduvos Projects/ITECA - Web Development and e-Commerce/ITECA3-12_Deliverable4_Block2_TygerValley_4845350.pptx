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0A0A"/>
    <a:srgbClr val="3399FF"/>
    <a:srgbClr val="1C6EBE"/>
    <a:srgbClr val="008080"/>
    <a:srgbClr val="196FBF"/>
    <a:srgbClr val="3C7882"/>
    <a:srgbClr val="262626"/>
    <a:srgbClr val="404040"/>
    <a:srgbClr val="5464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2" d="100"/>
          <a:sy n="62"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C100AF-CE10-4974-AB9D-B2136EE01FA4}" type="doc">
      <dgm:prSet loTypeId="urn:microsoft.com/office/officeart/2005/8/layout/process1" loCatId="process" qsTypeId="urn:microsoft.com/office/officeart/2005/8/quickstyle/3d4" qsCatId="3D" csTypeId="urn:microsoft.com/office/officeart/2005/8/colors/accent1_2" csCatId="accent1" phldr="1"/>
      <dgm:spPr/>
      <dgm:t>
        <a:bodyPr/>
        <a:lstStyle/>
        <a:p>
          <a:endParaRPr lang="en-ZA"/>
        </a:p>
      </dgm:t>
    </dgm:pt>
    <dgm:pt modelId="{6E86D80F-C925-4BB8-B32D-6D81419AE865}">
      <dgm:prSet phldrT="[Text]" phldr="0"/>
      <dgm:spPr/>
      <dgm:t>
        <a:bodyPr/>
        <a:lstStyle/>
        <a:p>
          <a:r>
            <a:rPr lang="en-US" dirty="0">
              <a:latin typeface="Arial" panose="020B0604020202020204" pitchFamily="34" charset="0"/>
              <a:cs typeface="Arial" panose="020B0604020202020204" pitchFamily="34" charset="0"/>
            </a:rPr>
            <a:t>1. User (browser)</a:t>
          </a:r>
          <a:endParaRPr lang="en-ZA" dirty="0">
            <a:latin typeface="Arial" panose="020B0604020202020204" pitchFamily="34" charset="0"/>
            <a:cs typeface="Arial" panose="020B0604020202020204" pitchFamily="34" charset="0"/>
          </a:endParaRPr>
        </a:p>
      </dgm:t>
    </dgm:pt>
    <dgm:pt modelId="{3C4F1625-8E1F-4401-950F-2792CA8EC005}" type="parTrans" cxnId="{D790A37B-9BE4-4E23-9073-CEB24670A772}">
      <dgm:prSet/>
      <dgm:spPr/>
      <dgm:t>
        <a:bodyPr/>
        <a:lstStyle/>
        <a:p>
          <a:endParaRPr lang="en-ZA"/>
        </a:p>
      </dgm:t>
    </dgm:pt>
    <dgm:pt modelId="{2F4584C4-60F6-4641-92D2-1CA86E202764}" type="sibTrans" cxnId="{D790A37B-9BE4-4E23-9073-CEB24670A772}">
      <dgm:prSet phldrT="1" phldr="0">
        <dgm:style>
          <a:lnRef idx="2">
            <a:schemeClr val="dk1"/>
          </a:lnRef>
          <a:fillRef idx="1">
            <a:schemeClr val="lt1"/>
          </a:fillRef>
          <a:effectRef idx="0">
            <a:schemeClr val="dk1"/>
          </a:effectRef>
          <a:fontRef idx="minor">
            <a:schemeClr val="dk1"/>
          </a:fontRef>
        </dgm:style>
      </dgm:prSet>
      <dgm:spPr/>
      <dgm:t>
        <a:bodyPr/>
        <a:lstStyle/>
        <a:p>
          <a:r>
            <a:rPr lang="en-ZA" dirty="0"/>
            <a:t> </a:t>
          </a:r>
        </a:p>
      </dgm:t>
    </dgm:pt>
    <dgm:pt modelId="{CB6610E5-DB4E-4332-A66E-A57CE432FC8A}">
      <dgm:prSet phldrT="[Text]" phldr="0"/>
      <dgm:spPr/>
      <dgm:t>
        <a:bodyPr/>
        <a:lstStyle/>
        <a:p>
          <a:r>
            <a:rPr lang="en-US" dirty="0">
              <a:latin typeface="Arial" panose="020B0604020202020204" pitchFamily="34" charset="0"/>
              <a:cs typeface="Arial" panose="020B0604020202020204" pitchFamily="34" charset="0"/>
            </a:rPr>
            <a:t>2. PHP</a:t>
          </a:r>
          <a:endParaRPr lang="en-ZA" dirty="0">
            <a:latin typeface="Arial" panose="020B0604020202020204" pitchFamily="34" charset="0"/>
            <a:cs typeface="Arial" panose="020B0604020202020204" pitchFamily="34" charset="0"/>
          </a:endParaRPr>
        </a:p>
      </dgm:t>
    </dgm:pt>
    <dgm:pt modelId="{7DEA4A00-263B-4567-91AA-7D27D3C6E07C}" type="parTrans" cxnId="{17D3D6BF-B75F-4D2B-9FA5-1683F03A663D}">
      <dgm:prSet/>
      <dgm:spPr/>
      <dgm:t>
        <a:bodyPr/>
        <a:lstStyle/>
        <a:p>
          <a:endParaRPr lang="en-ZA"/>
        </a:p>
      </dgm:t>
    </dgm:pt>
    <dgm:pt modelId="{C57913E9-3927-498F-8FDE-F2E1FA61D74A}" type="sibTrans" cxnId="{17D3D6BF-B75F-4D2B-9FA5-1683F03A663D}">
      <dgm:prSet phldrT="2" phldr="0">
        <dgm:style>
          <a:lnRef idx="2">
            <a:schemeClr val="dk1"/>
          </a:lnRef>
          <a:fillRef idx="1">
            <a:schemeClr val="lt1"/>
          </a:fillRef>
          <a:effectRef idx="0">
            <a:schemeClr val="dk1"/>
          </a:effectRef>
          <a:fontRef idx="minor">
            <a:schemeClr val="dk1"/>
          </a:fontRef>
        </dgm:style>
      </dgm:prSet>
      <dgm:spPr/>
      <dgm:t>
        <a:bodyPr/>
        <a:lstStyle/>
        <a:p>
          <a:r>
            <a:rPr lang="en-ZA" dirty="0"/>
            <a:t>  </a:t>
          </a:r>
        </a:p>
      </dgm:t>
    </dgm:pt>
    <dgm:pt modelId="{C51DAED2-5D73-48F5-9655-E1CEBE0225F0}">
      <dgm:prSet phldrT="[Text]" phldr="0"/>
      <dgm:spPr/>
      <dgm:t>
        <a:bodyPr/>
        <a:lstStyle/>
        <a:p>
          <a:r>
            <a:rPr lang="en-US" dirty="0">
              <a:latin typeface="Arial" panose="020B0604020202020204" pitchFamily="34" charset="0"/>
              <a:cs typeface="Arial" panose="020B0604020202020204" pitchFamily="34" charset="0"/>
            </a:rPr>
            <a:t>4. HTML / CSS / JS</a:t>
          </a:r>
          <a:endParaRPr lang="en-ZA" dirty="0">
            <a:latin typeface="Arial" panose="020B0604020202020204" pitchFamily="34" charset="0"/>
            <a:cs typeface="Arial" panose="020B0604020202020204" pitchFamily="34" charset="0"/>
          </a:endParaRPr>
        </a:p>
      </dgm:t>
    </dgm:pt>
    <dgm:pt modelId="{6E40C413-E11F-4836-ACE9-6E1476AD1476}" type="parTrans" cxnId="{ADA4B480-82AB-4FCC-9F08-CF247E3C9C13}">
      <dgm:prSet/>
      <dgm:spPr/>
      <dgm:t>
        <a:bodyPr/>
        <a:lstStyle/>
        <a:p>
          <a:endParaRPr lang="en-ZA"/>
        </a:p>
      </dgm:t>
    </dgm:pt>
    <dgm:pt modelId="{A0A8906A-99C9-4C6B-87F2-FE203670453B}" type="sibTrans" cxnId="{ADA4B480-82AB-4FCC-9F08-CF247E3C9C13}">
      <dgm:prSet phldrT="4" phldr="0">
        <dgm:style>
          <a:lnRef idx="2">
            <a:schemeClr val="dk1"/>
          </a:lnRef>
          <a:fillRef idx="1">
            <a:schemeClr val="lt1"/>
          </a:fillRef>
          <a:effectRef idx="0">
            <a:schemeClr val="dk1"/>
          </a:effectRef>
          <a:fontRef idx="minor">
            <a:schemeClr val="dk1"/>
          </a:fontRef>
        </dgm:style>
      </dgm:prSet>
      <dgm:spPr/>
      <dgm:t>
        <a:bodyPr/>
        <a:lstStyle/>
        <a:p>
          <a:r>
            <a:rPr lang="en-ZA" dirty="0"/>
            <a:t>  </a:t>
          </a:r>
        </a:p>
      </dgm:t>
    </dgm:pt>
    <dgm:pt modelId="{CE27DC2B-F615-43CE-9A84-41470B8E0DD3}">
      <dgm:prSet phldrT="[Text]" phldr="0"/>
      <dgm:spPr/>
      <dgm:t>
        <a:bodyPr/>
        <a:lstStyle/>
        <a:p>
          <a:r>
            <a:rPr lang="en-US" dirty="0">
              <a:latin typeface="Arial" panose="020B0604020202020204" pitchFamily="34" charset="0"/>
              <a:cs typeface="Arial" panose="020B0604020202020204" pitchFamily="34" charset="0"/>
            </a:rPr>
            <a:t>5. PHP</a:t>
          </a:r>
          <a:endParaRPr lang="en-ZA" dirty="0">
            <a:latin typeface="Arial" panose="020B0604020202020204" pitchFamily="34" charset="0"/>
            <a:cs typeface="Arial" panose="020B0604020202020204" pitchFamily="34" charset="0"/>
          </a:endParaRPr>
        </a:p>
      </dgm:t>
    </dgm:pt>
    <dgm:pt modelId="{10CD58A2-0381-41B4-96DF-5601319F7E2D}" type="parTrans" cxnId="{382A2812-7896-4F26-B7CF-C51CA0A6074F}">
      <dgm:prSet/>
      <dgm:spPr/>
      <dgm:t>
        <a:bodyPr/>
        <a:lstStyle/>
        <a:p>
          <a:endParaRPr lang="en-ZA"/>
        </a:p>
      </dgm:t>
    </dgm:pt>
    <dgm:pt modelId="{86B72C80-1146-4BD6-BA25-18C8D0219921}" type="sibTrans" cxnId="{382A2812-7896-4F26-B7CF-C51CA0A6074F}">
      <dgm:prSet phldrT="6" phldr="0">
        <dgm:style>
          <a:lnRef idx="2">
            <a:schemeClr val="dk1"/>
          </a:lnRef>
          <a:fillRef idx="1">
            <a:schemeClr val="lt1"/>
          </a:fillRef>
          <a:effectRef idx="0">
            <a:schemeClr val="dk1"/>
          </a:effectRef>
          <a:fontRef idx="minor">
            <a:schemeClr val="dk1"/>
          </a:fontRef>
        </dgm:style>
      </dgm:prSet>
      <dgm:spPr/>
      <dgm:t>
        <a:bodyPr/>
        <a:lstStyle/>
        <a:p>
          <a:r>
            <a:rPr lang="en-ZA" dirty="0"/>
            <a:t>  </a:t>
          </a:r>
        </a:p>
      </dgm:t>
    </dgm:pt>
    <dgm:pt modelId="{54F8A220-EFB5-4F17-A4D7-C5BC4A399788}">
      <dgm:prSet phldrT="[Text]" phldr="0"/>
      <dgm:spPr/>
      <dgm:t>
        <a:bodyPr/>
        <a:lstStyle/>
        <a:p>
          <a:r>
            <a:rPr lang="en-US" dirty="0">
              <a:latin typeface="Arial" panose="020B0604020202020204" pitchFamily="34" charset="0"/>
              <a:cs typeface="Arial" panose="020B0604020202020204" pitchFamily="34" charset="0"/>
            </a:rPr>
            <a:t>6. MySQL database</a:t>
          </a:r>
          <a:endParaRPr lang="en-ZA" dirty="0">
            <a:latin typeface="Arial" panose="020B0604020202020204" pitchFamily="34" charset="0"/>
            <a:cs typeface="Arial" panose="020B0604020202020204" pitchFamily="34" charset="0"/>
          </a:endParaRPr>
        </a:p>
      </dgm:t>
    </dgm:pt>
    <dgm:pt modelId="{648D3FC2-0318-4E91-B156-22DDD6A2CAAE}" type="parTrans" cxnId="{85551385-C239-4C17-9409-ADCE9AC88F2E}">
      <dgm:prSet/>
      <dgm:spPr/>
      <dgm:t>
        <a:bodyPr/>
        <a:lstStyle/>
        <a:p>
          <a:endParaRPr lang="en-ZA"/>
        </a:p>
      </dgm:t>
    </dgm:pt>
    <dgm:pt modelId="{C5016DBF-D68E-447D-A729-9DA9E4ED39C3}" type="sibTrans" cxnId="{85551385-C239-4C17-9409-ADCE9AC88F2E}">
      <dgm:prSet phldrT="7" phldr="0"/>
      <dgm:spPr/>
      <dgm:t>
        <a:bodyPr/>
        <a:lstStyle/>
        <a:p>
          <a:endParaRPr lang="en-ZA"/>
        </a:p>
      </dgm:t>
    </dgm:pt>
    <dgm:pt modelId="{2589FB9A-5B96-41A4-B995-747CA298B390}">
      <dgm:prSet phldrT="[Text]"/>
      <dgm:spPr/>
      <dgm:t>
        <a:bodyPr/>
        <a:lstStyle/>
        <a:p>
          <a:r>
            <a:rPr lang="en-US" dirty="0">
              <a:latin typeface="Arial" panose="020B0604020202020204" pitchFamily="34" charset="0"/>
              <a:cs typeface="Arial" panose="020B0604020202020204" pitchFamily="34" charset="0"/>
            </a:rPr>
            <a:t>3. MySQL database</a:t>
          </a:r>
          <a:endParaRPr lang="en-ZA" dirty="0"/>
        </a:p>
      </dgm:t>
    </dgm:pt>
    <dgm:pt modelId="{FD49CFA8-539E-42BD-8354-A1EE54251991}" type="parTrans" cxnId="{CC4AD4DF-0D53-48BC-8EBD-28B913E89D4B}">
      <dgm:prSet/>
      <dgm:spPr/>
      <dgm:t>
        <a:bodyPr/>
        <a:lstStyle/>
        <a:p>
          <a:endParaRPr lang="en-ZA"/>
        </a:p>
      </dgm:t>
    </dgm:pt>
    <dgm:pt modelId="{77125010-82EA-482C-BBF5-AEEF9676AFFD}" type="sibTrans" cxnId="{CC4AD4DF-0D53-48BC-8EBD-28B913E89D4B}">
      <dgm:prSet phldrT="3" phldr="0">
        <dgm:style>
          <a:lnRef idx="2">
            <a:schemeClr val="dk1"/>
          </a:lnRef>
          <a:fillRef idx="1">
            <a:schemeClr val="lt1"/>
          </a:fillRef>
          <a:effectRef idx="0">
            <a:schemeClr val="dk1"/>
          </a:effectRef>
          <a:fontRef idx="minor">
            <a:schemeClr val="dk1"/>
          </a:fontRef>
        </dgm:style>
      </dgm:prSet>
      <dgm:spPr/>
      <dgm:t>
        <a:bodyPr/>
        <a:lstStyle/>
        <a:p>
          <a:r>
            <a:rPr lang="en-ZA" dirty="0"/>
            <a:t> </a:t>
          </a:r>
        </a:p>
      </dgm:t>
    </dgm:pt>
    <dgm:pt modelId="{347022AE-7727-4EEC-A2D6-5BF8D1B0E446}" type="pres">
      <dgm:prSet presAssocID="{25C100AF-CE10-4974-AB9D-B2136EE01FA4}" presName="Name0" presStyleCnt="0">
        <dgm:presLayoutVars>
          <dgm:dir/>
          <dgm:resizeHandles val="exact"/>
        </dgm:presLayoutVars>
      </dgm:prSet>
      <dgm:spPr/>
    </dgm:pt>
    <dgm:pt modelId="{42FB844D-32CD-4F01-A96B-8E969BADEB52}" type="pres">
      <dgm:prSet presAssocID="{6E86D80F-C925-4BB8-B32D-6D81419AE865}" presName="node" presStyleLbl="node1" presStyleIdx="0" presStyleCnt="6">
        <dgm:presLayoutVars>
          <dgm:bulletEnabled val="1"/>
        </dgm:presLayoutVars>
      </dgm:prSet>
      <dgm:spPr/>
    </dgm:pt>
    <dgm:pt modelId="{E36E33D6-38D8-4809-B640-83611B355A71}" type="pres">
      <dgm:prSet presAssocID="{2F4584C4-60F6-4641-92D2-1CA86E202764}" presName="sibTrans" presStyleLbl="sibTrans2D1" presStyleIdx="0" presStyleCnt="5"/>
      <dgm:spPr/>
    </dgm:pt>
    <dgm:pt modelId="{4E3045A1-A45E-46E2-A20C-10AC65200584}" type="pres">
      <dgm:prSet presAssocID="{2F4584C4-60F6-4641-92D2-1CA86E202764}" presName="connectorText" presStyleLbl="sibTrans2D1" presStyleIdx="0" presStyleCnt="5"/>
      <dgm:spPr/>
    </dgm:pt>
    <dgm:pt modelId="{A6B9325D-0C96-457A-A77C-A764C847DB2D}" type="pres">
      <dgm:prSet presAssocID="{CB6610E5-DB4E-4332-A66E-A57CE432FC8A}" presName="node" presStyleLbl="node1" presStyleIdx="1" presStyleCnt="6">
        <dgm:presLayoutVars>
          <dgm:bulletEnabled val="1"/>
        </dgm:presLayoutVars>
      </dgm:prSet>
      <dgm:spPr/>
    </dgm:pt>
    <dgm:pt modelId="{7814912C-6D7B-4BDB-B5EB-95C121AD9CC6}" type="pres">
      <dgm:prSet presAssocID="{C57913E9-3927-498F-8FDE-F2E1FA61D74A}" presName="sibTrans" presStyleLbl="sibTrans2D1" presStyleIdx="1" presStyleCnt="5"/>
      <dgm:spPr/>
    </dgm:pt>
    <dgm:pt modelId="{75C1192B-BF85-4B56-B060-22B5EC994A56}" type="pres">
      <dgm:prSet presAssocID="{C57913E9-3927-498F-8FDE-F2E1FA61D74A}" presName="connectorText" presStyleLbl="sibTrans2D1" presStyleIdx="1" presStyleCnt="5"/>
      <dgm:spPr/>
    </dgm:pt>
    <dgm:pt modelId="{376CE50C-682E-4115-85B8-D1D7F408828B}" type="pres">
      <dgm:prSet presAssocID="{2589FB9A-5B96-41A4-B995-747CA298B390}" presName="node" presStyleLbl="node1" presStyleIdx="2" presStyleCnt="6">
        <dgm:presLayoutVars>
          <dgm:bulletEnabled val="1"/>
        </dgm:presLayoutVars>
      </dgm:prSet>
      <dgm:spPr/>
    </dgm:pt>
    <dgm:pt modelId="{417A7063-02D1-4C5B-9A18-9D3C75445323}" type="pres">
      <dgm:prSet presAssocID="{77125010-82EA-482C-BBF5-AEEF9676AFFD}" presName="sibTrans" presStyleLbl="sibTrans2D1" presStyleIdx="2" presStyleCnt="5"/>
      <dgm:spPr/>
    </dgm:pt>
    <dgm:pt modelId="{DA033702-C0D4-41C6-ADDC-95974301A8E9}" type="pres">
      <dgm:prSet presAssocID="{77125010-82EA-482C-BBF5-AEEF9676AFFD}" presName="connectorText" presStyleLbl="sibTrans2D1" presStyleIdx="2" presStyleCnt="5"/>
      <dgm:spPr/>
    </dgm:pt>
    <dgm:pt modelId="{A92AA04D-2075-45F3-83C4-87CF5F5F3727}" type="pres">
      <dgm:prSet presAssocID="{C51DAED2-5D73-48F5-9655-E1CEBE0225F0}" presName="node" presStyleLbl="node1" presStyleIdx="3" presStyleCnt="6">
        <dgm:presLayoutVars>
          <dgm:bulletEnabled val="1"/>
        </dgm:presLayoutVars>
      </dgm:prSet>
      <dgm:spPr/>
    </dgm:pt>
    <dgm:pt modelId="{DD5352A7-06E5-40F7-B3EE-6D5C3943CC0D}" type="pres">
      <dgm:prSet presAssocID="{A0A8906A-99C9-4C6B-87F2-FE203670453B}" presName="sibTrans" presStyleLbl="sibTrans2D1" presStyleIdx="3" presStyleCnt="5"/>
      <dgm:spPr/>
    </dgm:pt>
    <dgm:pt modelId="{7F368061-A402-4418-9B7F-68D5388202B8}" type="pres">
      <dgm:prSet presAssocID="{A0A8906A-99C9-4C6B-87F2-FE203670453B}" presName="connectorText" presStyleLbl="sibTrans2D1" presStyleIdx="3" presStyleCnt="5"/>
      <dgm:spPr/>
    </dgm:pt>
    <dgm:pt modelId="{04A10BE3-1E6A-46EA-B52B-40411FB387CB}" type="pres">
      <dgm:prSet presAssocID="{CE27DC2B-F615-43CE-9A84-41470B8E0DD3}" presName="node" presStyleLbl="node1" presStyleIdx="4" presStyleCnt="6">
        <dgm:presLayoutVars>
          <dgm:bulletEnabled val="1"/>
        </dgm:presLayoutVars>
      </dgm:prSet>
      <dgm:spPr/>
    </dgm:pt>
    <dgm:pt modelId="{D3E5C2C7-F6A6-4468-AB9E-B213EE00DADE}" type="pres">
      <dgm:prSet presAssocID="{86B72C80-1146-4BD6-BA25-18C8D0219921}" presName="sibTrans" presStyleLbl="sibTrans2D1" presStyleIdx="4" presStyleCnt="5"/>
      <dgm:spPr/>
    </dgm:pt>
    <dgm:pt modelId="{F60A09B7-51BD-4105-9997-112C38E22C23}" type="pres">
      <dgm:prSet presAssocID="{86B72C80-1146-4BD6-BA25-18C8D0219921}" presName="connectorText" presStyleLbl="sibTrans2D1" presStyleIdx="4" presStyleCnt="5"/>
      <dgm:spPr/>
    </dgm:pt>
    <dgm:pt modelId="{84283B91-BCD0-4EA1-982D-C8377814644A}" type="pres">
      <dgm:prSet presAssocID="{54F8A220-EFB5-4F17-A4D7-C5BC4A399788}" presName="node" presStyleLbl="node1" presStyleIdx="5" presStyleCnt="6">
        <dgm:presLayoutVars>
          <dgm:bulletEnabled val="1"/>
        </dgm:presLayoutVars>
      </dgm:prSet>
      <dgm:spPr/>
    </dgm:pt>
  </dgm:ptLst>
  <dgm:cxnLst>
    <dgm:cxn modelId="{CF1BCD02-4E46-462C-921B-90168608DC4F}" type="presOf" srcId="{C51DAED2-5D73-48F5-9655-E1CEBE0225F0}" destId="{A92AA04D-2075-45F3-83C4-87CF5F5F3727}" srcOrd="0" destOrd="0" presId="urn:microsoft.com/office/officeart/2005/8/layout/process1"/>
    <dgm:cxn modelId="{0732B30F-A227-4FE7-9161-4AD92A744005}" type="presOf" srcId="{77125010-82EA-482C-BBF5-AEEF9676AFFD}" destId="{417A7063-02D1-4C5B-9A18-9D3C75445323}" srcOrd="0" destOrd="0" presId="urn:microsoft.com/office/officeart/2005/8/layout/process1"/>
    <dgm:cxn modelId="{382A2812-7896-4F26-B7CF-C51CA0A6074F}" srcId="{25C100AF-CE10-4974-AB9D-B2136EE01FA4}" destId="{CE27DC2B-F615-43CE-9A84-41470B8E0DD3}" srcOrd="4" destOrd="0" parTransId="{10CD58A2-0381-41B4-96DF-5601319F7E2D}" sibTransId="{86B72C80-1146-4BD6-BA25-18C8D0219921}"/>
    <dgm:cxn modelId="{3951C416-0CDC-48C2-8894-DF2EBF1E4798}" type="presOf" srcId="{2F4584C4-60F6-4641-92D2-1CA86E202764}" destId="{4E3045A1-A45E-46E2-A20C-10AC65200584}" srcOrd="1" destOrd="0" presId="urn:microsoft.com/office/officeart/2005/8/layout/process1"/>
    <dgm:cxn modelId="{392DE718-1CE3-45BB-8740-34C12F55824E}" type="presOf" srcId="{A0A8906A-99C9-4C6B-87F2-FE203670453B}" destId="{DD5352A7-06E5-40F7-B3EE-6D5C3943CC0D}" srcOrd="0" destOrd="0" presId="urn:microsoft.com/office/officeart/2005/8/layout/process1"/>
    <dgm:cxn modelId="{337BD234-232D-4697-9451-9746A531484A}" type="presOf" srcId="{2589FB9A-5B96-41A4-B995-747CA298B390}" destId="{376CE50C-682E-4115-85B8-D1D7F408828B}" srcOrd="0" destOrd="0" presId="urn:microsoft.com/office/officeart/2005/8/layout/process1"/>
    <dgm:cxn modelId="{6310A03E-EA57-4458-868B-CA1890A4671D}" type="presOf" srcId="{A0A8906A-99C9-4C6B-87F2-FE203670453B}" destId="{7F368061-A402-4418-9B7F-68D5388202B8}" srcOrd="1" destOrd="0" presId="urn:microsoft.com/office/officeart/2005/8/layout/process1"/>
    <dgm:cxn modelId="{21454062-11C8-4521-898C-65214BB10629}" type="presOf" srcId="{6E86D80F-C925-4BB8-B32D-6D81419AE865}" destId="{42FB844D-32CD-4F01-A96B-8E969BADEB52}" srcOrd="0" destOrd="0" presId="urn:microsoft.com/office/officeart/2005/8/layout/process1"/>
    <dgm:cxn modelId="{2400556F-6BF2-48C2-9BC9-BF1E1CFA9DB3}" type="presOf" srcId="{2F4584C4-60F6-4641-92D2-1CA86E202764}" destId="{E36E33D6-38D8-4809-B640-83611B355A71}" srcOrd="0" destOrd="0" presId="urn:microsoft.com/office/officeart/2005/8/layout/process1"/>
    <dgm:cxn modelId="{D790A37B-9BE4-4E23-9073-CEB24670A772}" srcId="{25C100AF-CE10-4974-AB9D-B2136EE01FA4}" destId="{6E86D80F-C925-4BB8-B32D-6D81419AE865}" srcOrd="0" destOrd="0" parTransId="{3C4F1625-8E1F-4401-950F-2792CA8EC005}" sibTransId="{2F4584C4-60F6-4641-92D2-1CA86E202764}"/>
    <dgm:cxn modelId="{ADA4B480-82AB-4FCC-9F08-CF247E3C9C13}" srcId="{25C100AF-CE10-4974-AB9D-B2136EE01FA4}" destId="{C51DAED2-5D73-48F5-9655-E1CEBE0225F0}" srcOrd="3" destOrd="0" parTransId="{6E40C413-E11F-4836-ACE9-6E1476AD1476}" sibTransId="{A0A8906A-99C9-4C6B-87F2-FE203670453B}"/>
    <dgm:cxn modelId="{85551385-C239-4C17-9409-ADCE9AC88F2E}" srcId="{25C100AF-CE10-4974-AB9D-B2136EE01FA4}" destId="{54F8A220-EFB5-4F17-A4D7-C5BC4A399788}" srcOrd="5" destOrd="0" parTransId="{648D3FC2-0318-4E91-B156-22DDD6A2CAAE}" sibTransId="{C5016DBF-D68E-447D-A729-9DA9E4ED39C3}"/>
    <dgm:cxn modelId="{D553778D-5B87-4688-B55B-0EE2669A41D5}" type="presOf" srcId="{CB6610E5-DB4E-4332-A66E-A57CE432FC8A}" destId="{A6B9325D-0C96-457A-A77C-A764C847DB2D}" srcOrd="0" destOrd="0" presId="urn:microsoft.com/office/officeart/2005/8/layout/process1"/>
    <dgm:cxn modelId="{84B9248F-697C-4084-A138-9F1B653AF6E3}" type="presOf" srcId="{86B72C80-1146-4BD6-BA25-18C8D0219921}" destId="{F60A09B7-51BD-4105-9997-112C38E22C23}" srcOrd="1" destOrd="0" presId="urn:microsoft.com/office/officeart/2005/8/layout/process1"/>
    <dgm:cxn modelId="{C2F2E894-751D-4ED5-B065-30974B224CF6}" type="presOf" srcId="{54F8A220-EFB5-4F17-A4D7-C5BC4A399788}" destId="{84283B91-BCD0-4EA1-982D-C8377814644A}" srcOrd="0" destOrd="0" presId="urn:microsoft.com/office/officeart/2005/8/layout/process1"/>
    <dgm:cxn modelId="{EEE714B2-B08E-43FD-95DA-295D51709868}" type="presOf" srcId="{25C100AF-CE10-4974-AB9D-B2136EE01FA4}" destId="{347022AE-7727-4EEC-A2D6-5BF8D1B0E446}" srcOrd="0" destOrd="0" presId="urn:microsoft.com/office/officeart/2005/8/layout/process1"/>
    <dgm:cxn modelId="{17D3D6BF-B75F-4D2B-9FA5-1683F03A663D}" srcId="{25C100AF-CE10-4974-AB9D-B2136EE01FA4}" destId="{CB6610E5-DB4E-4332-A66E-A57CE432FC8A}" srcOrd="1" destOrd="0" parTransId="{7DEA4A00-263B-4567-91AA-7D27D3C6E07C}" sibTransId="{C57913E9-3927-498F-8FDE-F2E1FA61D74A}"/>
    <dgm:cxn modelId="{CCCF79CD-FF86-414A-A222-C86D9E8AE000}" type="presOf" srcId="{C57913E9-3927-498F-8FDE-F2E1FA61D74A}" destId="{75C1192B-BF85-4B56-B060-22B5EC994A56}" srcOrd="1" destOrd="0" presId="urn:microsoft.com/office/officeart/2005/8/layout/process1"/>
    <dgm:cxn modelId="{A9C19FCE-F32A-4AE6-AA3E-4847695CDFD0}" type="presOf" srcId="{CE27DC2B-F615-43CE-9A84-41470B8E0DD3}" destId="{04A10BE3-1E6A-46EA-B52B-40411FB387CB}" srcOrd="0" destOrd="0" presId="urn:microsoft.com/office/officeart/2005/8/layout/process1"/>
    <dgm:cxn modelId="{CC4AD4DF-0D53-48BC-8EBD-28B913E89D4B}" srcId="{25C100AF-CE10-4974-AB9D-B2136EE01FA4}" destId="{2589FB9A-5B96-41A4-B995-747CA298B390}" srcOrd="2" destOrd="0" parTransId="{FD49CFA8-539E-42BD-8354-A1EE54251991}" sibTransId="{77125010-82EA-482C-BBF5-AEEF9676AFFD}"/>
    <dgm:cxn modelId="{60FBA9E3-00D9-4D60-9E5D-2BB266ECEF2C}" type="presOf" srcId="{77125010-82EA-482C-BBF5-AEEF9676AFFD}" destId="{DA033702-C0D4-41C6-ADDC-95974301A8E9}" srcOrd="1" destOrd="0" presId="urn:microsoft.com/office/officeart/2005/8/layout/process1"/>
    <dgm:cxn modelId="{9B8FF9E7-4586-453B-9E52-CA67064109AC}" type="presOf" srcId="{C57913E9-3927-498F-8FDE-F2E1FA61D74A}" destId="{7814912C-6D7B-4BDB-B5EB-95C121AD9CC6}" srcOrd="0" destOrd="0" presId="urn:microsoft.com/office/officeart/2005/8/layout/process1"/>
    <dgm:cxn modelId="{F108EEEF-9DE5-4C2B-BB22-769F89C54A72}" type="presOf" srcId="{86B72C80-1146-4BD6-BA25-18C8D0219921}" destId="{D3E5C2C7-F6A6-4468-AB9E-B213EE00DADE}" srcOrd="0" destOrd="0" presId="urn:microsoft.com/office/officeart/2005/8/layout/process1"/>
    <dgm:cxn modelId="{A134417C-ECF4-46C7-AE2F-742496FFA358}" type="presParOf" srcId="{347022AE-7727-4EEC-A2D6-5BF8D1B0E446}" destId="{42FB844D-32CD-4F01-A96B-8E969BADEB52}" srcOrd="0" destOrd="0" presId="urn:microsoft.com/office/officeart/2005/8/layout/process1"/>
    <dgm:cxn modelId="{05D20C31-6732-48C7-8125-E22B95B3A6D3}" type="presParOf" srcId="{347022AE-7727-4EEC-A2D6-5BF8D1B0E446}" destId="{E36E33D6-38D8-4809-B640-83611B355A71}" srcOrd="1" destOrd="0" presId="urn:microsoft.com/office/officeart/2005/8/layout/process1"/>
    <dgm:cxn modelId="{AC2F2B4E-3D6B-413E-BACC-84DB84C83F0D}" type="presParOf" srcId="{E36E33D6-38D8-4809-B640-83611B355A71}" destId="{4E3045A1-A45E-46E2-A20C-10AC65200584}" srcOrd="0" destOrd="0" presId="urn:microsoft.com/office/officeart/2005/8/layout/process1"/>
    <dgm:cxn modelId="{D18299CA-AE66-437E-B83C-C9CE3FA880EF}" type="presParOf" srcId="{347022AE-7727-4EEC-A2D6-5BF8D1B0E446}" destId="{A6B9325D-0C96-457A-A77C-A764C847DB2D}" srcOrd="2" destOrd="0" presId="urn:microsoft.com/office/officeart/2005/8/layout/process1"/>
    <dgm:cxn modelId="{54A7AD5A-2D1A-45BF-AD0B-DEE78013CFB4}" type="presParOf" srcId="{347022AE-7727-4EEC-A2D6-5BF8D1B0E446}" destId="{7814912C-6D7B-4BDB-B5EB-95C121AD9CC6}" srcOrd="3" destOrd="0" presId="urn:microsoft.com/office/officeart/2005/8/layout/process1"/>
    <dgm:cxn modelId="{149019B9-8B4A-48C2-A04C-3AEC2417F892}" type="presParOf" srcId="{7814912C-6D7B-4BDB-B5EB-95C121AD9CC6}" destId="{75C1192B-BF85-4B56-B060-22B5EC994A56}" srcOrd="0" destOrd="0" presId="urn:microsoft.com/office/officeart/2005/8/layout/process1"/>
    <dgm:cxn modelId="{481C6ECD-CEF6-45EE-B804-E7A6602AB9EF}" type="presParOf" srcId="{347022AE-7727-4EEC-A2D6-5BF8D1B0E446}" destId="{376CE50C-682E-4115-85B8-D1D7F408828B}" srcOrd="4" destOrd="0" presId="urn:microsoft.com/office/officeart/2005/8/layout/process1"/>
    <dgm:cxn modelId="{9477A5BC-78D3-4E45-980D-EAFA40CFE4AB}" type="presParOf" srcId="{347022AE-7727-4EEC-A2D6-5BF8D1B0E446}" destId="{417A7063-02D1-4C5B-9A18-9D3C75445323}" srcOrd="5" destOrd="0" presId="urn:microsoft.com/office/officeart/2005/8/layout/process1"/>
    <dgm:cxn modelId="{9E6C6209-1AF5-4C90-B9F3-7F0FF3C1069E}" type="presParOf" srcId="{417A7063-02D1-4C5B-9A18-9D3C75445323}" destId="{DA033702-C0D4-41C6-ADDC-95974301A8E9}" srcOrd="0" destOrd="0" presId="urn:microsoft.com/office/officeart/2005/8/layout/process1"/>
    <dgm:cxn modelId="{81D7C21E-970D-4F30-9744-953E1AF47E5D}" type="presParOf" srcId="{347022AE-7727-4EEC-A2D6-5BF8D1B0E446}" destId="{A92AA04D-2075-45F3-83C4-87CF5F5F3727}" srcOrd="6" destOrd="0" presId="urn:microsoft.com/office/officeart/2005/8/layout/process1"/>
    <dgm:cxn modelId="{0C895622-606C-4787-A343-041C160B7A89}" type="presParOf" srcId="{347022AE-7727-4EEC-A2D6-5BF8D1B0E446}" destId="{DD5352A7-06E5-40F7-B3EE-6D5C3943CC0D}" srcOrd="7" destOrd="0" presId="urn:microsoft.com/office/officeart/2005/8/layout/process1"/>
    <dgm:cxn modelId="{EA63998B-98C8-4552-81BC-82140BD44024}" type="presParOf" srcId="{DD5352A7-06E5-40F7-B3EE-6D5C3943CC0D}" destId="{7F368061-A402-4418-9B7F-68D5388202B8}" srcOrd="0" destOrd="0" presId="urn:microsoft.com/office/officeart/2005/8/layout/process1"/>
    <dgm:cxn modelId="{1D4A715A-B34F-40A0-B55E-A1195F0A6899}" type="presParOf" srcId="{347022AE-7727-4EEC-A2D6-5BF8D1B0E446}" destId="{04A10BE3-1E6A-46EA-B52B-40411FB387CB}" srcOrd="8" destOrd="0" presId="urn:microsoft.com/office/officeart/2005/8/layout/process1"/>
    <dgm:cxn modelId="{0B11B5B6-AA16-4006-99B7-981C9DD5A315}" type="presParOf" srcId="{347022AE-7727-4EEC-A2D6-5BF8D1B0E446}" destId="{D3E5C2C7-F6A6-4468-AB9E-B213EE00DADE}" srcOrd="9" destOrd="0" presId="urn:microsoft.com/office/officeart/2005/8/layout/process1"/>
    <dgm:cxn modelId="{11BBD9F1-FBF1-4F13-8459-6E5ED721F516}" type="presParOf" srcId="{D3E5C2C7-F6A6-4468-AB9E-B213EE00DADE}" destId="{F60A09B7-51BD-4105-9997-112C38E22C23}" srcOrd="0" destOrd="0" presId="urn:microsoft.com/office/officeart/2005/8/layout/process1"/>
    <dgm:cxn modelId="{ED686067-19B3-4F17-B366-BD304ED288BA}" type="presParOf" srcId="{347022AE-7727-4EEC-A2D6-5BF8D1B0E446}" destId="{84283B91-BCD0-4EA1-982D-C8377814644A}"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B844D-32CD-4F01-A96B-8E969BADEB52}">
      <dsp:nvSpPr>
        <dsp:cNvPr id="0" name=""/>
        <dsp:cNvSpPr/>
      </dsp:nvSpPr>
      <dsp:spPr>
        <a:xfrm>
          <a:off x="0" y="2368241"/>
          <a:ext cx="1136972" cy="682183"/>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1. User (browser)</a:t>
          </a:r>
          <a:endParaRPr lang="en-ZA" sz="1700" kern="1200" dirty="0">
            <a:latin typeface="Arial" panose="020B0604020202020204" pitchFamily="34" charset="0"/>
            <a:cs typeface="Arial" panose="020B0604020202020204" pitchFamily="34" charset="0"/>
          </a:endParaRPr>
        </a:p>
      </dsp:txBody>
      <dsp:txXfrm>
        <a:off x="19980" y="2388221"/>
        <a:ext cx="1097012" cy="642223"/>
      </dsp:txXfrm>
    </dsp:sp>
    <dsp:sp modelId="{E36E33D6-38D8-4809-B640-83611B355A71}">
      <dsp:nvSpPr>
        <dsp:cNvPr id="0" name=""/>
        <dsp:cNvSpPr/>
      </dsp:nvSpPr>
      <dsp:spPr>
        <a:xfrm>
          <a:off x="1250670" y="2568348"/>
          <a:ext cx="241038" cy="281969"/>
        </a:xfrm>
        <a:prstGeom prst="rightArrow">
          <a:avLst>
            <a:gd name="adj1" fmla="val 60000"/>
            <a:gd name="adj2" fmla="val 50000"/>
          </a:avLst>
        </a:prstGeom>
        <a:solidFill>
          <a:schemeClr val="lt1"/>
        </a:solidFill>
        <a:ln w="19050" cap="flat" cmpd="sng" algn="ctr">
          <a:solidFill>
            <a:schemeClr val="dk1"/>
          </a:solidFill>
          <a:prstDash val="solid"/>
          <a:miter lim="800000"/>
        </a:ln>
        <a:effectLst/>
        <a:scene3d>
          <a:camera prst="orthographicFront"/>
          <a:lightRig rig="chilly" dir="t"/>
        </a:scene3d>
        <a:sp3d z="-70000" extrusionH="1700"/>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ZA" sz="1200" kern="1200" dirty="0"/>
            <a:t> </a:t>
          </a:r>
        </a:p>
      </dsp:txBody>
      <dsp:txXfrm>
        <a:off x="1250670" y="2624742"/>
        <a:ext cx="168727" cy="169181"/>
      </dsp:txXfrm>
    </dsp:sp>
    <dsp:sp modelId="{A6B9325D-0C96-457A-A77C-A764C847DB2D}">
      <dsp:nvSpPr>
        <dsp:cNvPr id="0" name=""/>
        <dsp:cNvSpPr/>
      </dsp:nvSpPr>
      <dsp:spPr>
        <a:xfrm>
          <a:off x="1591762" y="2368241"/>
          <a:ext cx="1136972" cy="682183"/>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2. PHP</a:t>
          </a:r>
          <a:endParaRPr lang="en-ZA" sz="1700" kern="1200" dirty="0">
            <a:latin typeface="Arial" panose="020B0604020202020204" pitchFamily="34" charset="0"/>
            <a:cs typeface="Arial" panose="020B0604020202020204" pitchFamily="34" charset="0"/>
          </a:endParaRPr>
        </a:p>
      </dsp:txBody>
      <dsp:txXfrm>
        <a:off x="1611742" y="2388221"/>
        <a:ext cx="1097012" cy="642223"/>
      </dsp:txXfrm>
    </dsp:sp>
    <dsp:sp modelId="{7814912C-6D7B-4BDB-B5EB-95C121AD9CC6}">
      <dsp:nvSpPr>
        <dsp:cNvPr id="0" name=""/>
        <dsp:cNvSpPr/>
      </dsp:nvSpPr>
      <dsp:spPr>
        <a:xfrm>
          <a:off x="2842432" y="2568348"/>
          <a:ext cx="241038" cy="281969"/>
        </a:xfrm>
        <a:prstGeom prst="rightArrow">
          <a:avLst>
            <a:gd name="adj1" fmla="val 60000"/>
            <a:gd name="adj2" fmla="val 50000"/>
          </a:avLst>
        </a:prstGeom>
        <a:solidFill>
          <a:schemeClr val="lt1"/>
        </a:solidFill>
        <a:ln w="19050" cap="flat" cmpd="sng" algn="ctr">
          <a:solidFill>
            <a:schemeClr val="dk1"/>
          </a:solidFill>
          <a:prstDash val="solid"/>
          <a:miter lim="800000"/>
        </a:ln>
        <a:effectLst/>
        <a:scene3d>
          <a:camera prst="orthographicFront"/>
          <a:lightRig rig="chilly" dir="t"/>
        </a:scene3d>
        <a:sp3d z="-70000" extrusionH="1700"/>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ZA" sz="1200" kern="1200" dirty="0"/>
            <a:t>  </a:t>
          </a:r>
        </a:p>
      </dsp:txBody>
      <dsp:txXfrm>
        <a:off x="2842432" y="2624742"/>
        <a:ext cx="168727" cy="169181"/>
      </dsp:txXfrm>
    </dsp:sp>
    <dsp:sp modelId="{376CE50C-682E-4115-85B8-D1D7F408828B}">
      <dsp:nvSpPr>
        <dsp:cNvPr id="0" name=""/>
        <dsp:cNvSpPr/>
      </dsp:nvSpPr>
      <dsp:spPr>
        <a:xfrm>
          <a:off x="3183524" y="2368241"/>
          <a:ext cx="1136972" cy="682183"/>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3. MySQL database</a:t>
          </a:r>
          <a:endParaRPr lang="en-ZA" sz="1700" kern="1200" dirty="0"/>
        </a:p>
      </dsp:txBody>
      <dsp:txXfrm>
        <a:off x="3203504" y="2388221"/>
        <a:ext cx="1097012" cy="642223"/>
      </dsp:txXfrm>
    </dsp:sp>
    <dsp:sp modelId="{417A7063-02D1-4C5B-9A18-9D3C75445323}">
      <dsp:nvSpPr>
        <dsp:cNvPr id="0" name=""/>
        <dsp:cNvSpPr/>
      </dsp:nvSpPr>
      <dsp:spPr>
        <a:xfrm>
          <a:off x="4434194" y="2568348"/>
          <a:ext cx="241038" cy="281969"/>
        </a:xfrm>
        <a:prstGeom prst="rightArrow">
          <a:avLst>
            <a:gd name="adj1" fmla="val 60000"/>
            <a:gd name="adj2" fmla="val 50000"/>
          </a:avLst>
        </a:prstGeom>
        <a:solidFill>
          <a:schemeClr val="lt1"/>
        </a:solidFill>
        <a:ln w="19050" cap="flat" cmpd="sng" algn="ctr">
          <a:solidFill>
            <a:schemeClr val="dk1"/>
          </a:solidFill>
          <a:prstDash val="solid"/>
          <a:miter lim="800000"/>
        </a:ln>
        <a:effectLst/>
        <a:scene3d>
          <a:camera prst="orthographicFront"/>
          <a:lightRig rig="chilly" dir="t"/>
        </a:scene3d>
        <a:sp3d z="-70000" extrusionH="1700"/>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ZA" sz="1200" kern="1200" dirty="0"/>
            <a:t> </a:t>
          </a:r>
        </a:p>
      </dsp:txBody>
      <dsp:txXfrm>
        <a:off x="4434194" y="2624742"/>
        <a:ext cx="168727" cy="169181"/>
      </dsp:txXfrm>
    </dsp:sp>
    <dsp:sp modelId="{A92AA04D-2075-45F3-83C4-87CF5F5F3727}">
      <dsp:nvSpPr>
        <dsp:cNvPr id="0" name=""/>
        <dsp:cNvSpPr/>
      </dsp:nvSpPr>
      <dsp:spPr>
        <a:xfrm>
          <a:off x="4775286" y="2368241"/>
          <a:ext cx="1136972" cy="682183"/>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4. HTML / CSS / JS</a:t>
          </a:r>
          <a:endParaRPr lang="en-ZA" sz="1700" kern="1200" dirty="0">
            <a:latin typeface="Arial" panose="020B0604020202020204" pitchFamily="34" charset="0"/>
            <a:cs typeface="Arial" panose="020B0604020202020204" pitchFamily="34" charset="0"/>
          </a:endParaRPr>
        </a:p>
      </dsp:txBody>
      <dsp:txXfrm>
        <a:off x="4795266" y="2388221"/>
        <a:ext cx="1097012" cy="642223"/>
      </dsp:txXfrm>
    </dsp:sp>
    <dsp:sp modelId="{DD5352A7-06E5-40F7-B3EE-6D5C3943CC0D}">
      <dsp:nvSpPr>
        <dsp:cNvPr id="0" name=""/>
        <dsp:cNvSpPr/>
      </dsp:nvSpPr>
      <dsp:spPr>
        <a:xfrm>
          <a:off x="6025956" y="2568348"/>
          <a:ext cx="241038" cy="281969"/>
        </a:xfrm>
        <a:prstGeom prst="rightArrow">
          <a:avLst>
            <a:gd name="adj1" fmla="val 60000"/>
            <a:gd name="adj2" fmla="val 50000"/>
          </a:avLst>
        </a:prstGeom>
        <a:solidFill>
          <a:schemeClr val="lt1"/>
        </a:solidFill>
        <a:ln w="19050" cap="flat" cmpd="sng" algn="ctr">
          <a:solidFill>
            <a:schemeClr val="dk1"/>
          </a:solidFill>
          <a:prstDash val="solid"/>
          <a:miter lim="800000"/>
        </a:ln>
        <a:effectLst/>
        <a:scene3d>
          <a:camera prst="orthographicFront"/>
          <a:lightRig rig="chilly" dir="t"/>
        </a:scene3d>
        <a:sp3d z="-70000" extrusionH="1700"/>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ZA" sz="1200" kern="1200" dirty="0"/>
            <a:t>  </a:t>
          </a:r>
        </a:p>
      </dsp:txBody>
      <dsp:txXfrm>
        <a:off x="6025956" y="2624742"/>
        <a:ext cx="168727" cy="169181"/>
      </dsp:txXfrm>
    </dsp:sp>
    <dsp:sp modelId="{04A10BE3-1E6A-46EA-B52B-40411FB387CB}">
      <dsp:nvSpPr>
        <dsp:cNvPr id="0" name=""/>
        <dsp:cNvSpPr/>
      </dsp:nvSpPr>
      <dsp:spPr>
        <a:xfrm>
          <a:off x="6367048" y="2368241"/>
          <a:ext cx="1136972" cy="682183"/>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5. PHP</a:t>
          </a:r>
          <a:endParaRPr lang="en-ZA" sz="1700" kern="1200" dirty="0">
            <a:latin typeface="Arial" panose="020B0604020202020204" pitchFamily="34" charset="0"/>
            <a:cs typeface="Arial" panose="020B0604020202020204" pitchFamily="34" charset="0"/>
          </a:endParaRPr>
        </a:p>
      </dsp:txBody>
      <dsp:txXfrm>
        <a:off x="6387028" y="2388221"/>
        <a:ext cx="1097012" cy="642223"/>
      </dsp:txXfrm>
    </dsp:sp>
    <dsp:sp modelId="{D3E5C2C7-F6A6-4468-AB9E-B213EE00DADE}">
      <dsp:nvSpPr>
        <dsp:cNvPr id="0" name=""/>
        <dsp:cNvSpPr/>
      </dsp:nvSpPr>
      <dsp:spPr>
        <a:xfrm>
          <a:off x="7617718" y="2568348"/>
          <a:ext cx="241038" cy="281969"/>
        </a:xfrm>
        <a:prstGeom prst="rightArrow">
          <a:avLst>
            <a:gd name="adj1" fmla="val 60000"/>
            <a:gd name="adj2" fmla="val 50000"/>
          </a:avLst>
        </a:prstGeom>
        <a:solidFill>
          <a:schemeClr val="lt1"/>
        </a:solidFill>
        <a:ln w="19050" cap="flat" cmpd="sng" algn="ctr">
          <a:solidFill>
            <a:schemeClr val="dk1"/>
          </a:solidFill>
          <a:prstDash val="solid"/>
          <a:miter lim="800000"/>
        </a:ln>
        <a:effectLst/>
        <a:scene3d>
          <a:camera prst="orthographicFront"/>
          <a:lightRig rig="chilly" dir="t"/>
        </a:scene3d>
        <a:sp3d z="-70000" extrusionH="1700"/>
      </dsp:spPr>
      <dsp:style>
        <a:lnRef idx="2">
          <a:schemeClr val="dk1"/>
        </a:lnRef>
        <a:fillRef idx="1">
          <a:schemeClr val="lt1"/>
        </a:fillRef>
        <a:effectRef idx="0">
          <a:schemeClr val="dk1"/>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ZA" sz="1200" kern="1200" dirty="0"/>
            <a:t>  </a:t>
          </a:r>
        </a:p>
      </dsp:txBody>
      <dsp:txXfrm>
        <a:off x="7617718" y="2624742"/>
        <a:ext cx="168727" cy="169181"/>
      </dsp:txXfrm>
    </dsp:sp>
    <dsp:sp modelId="{84283B91-BCD0-4EA1-982D-C8377814644A}">
      <dsp:nvSpPr>
        <dsp:cNvPr id="0" name=""/>
        <dsp:cNvSpPr/>
      </dsp:nvSpPr>
      <dsp:spPr>
        <a:xfrm>
          <a:off x="7958810" y="2368241"/>
          <a:ext cx="1136972" cy="682183"/>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6. MySQL database</a:t>
          </a:r>
          <a:endParaRPr lang="en-ZA" sz="1700" kern="1200" dirty="0">
            <a:latin typeface="Arial" panose="020B0604020202020204" pitchFamily="34" charset="0"/>
            <a:cs typeface="Arial" panose="020B0604020202020204" pitchFamily="34" charset="0"/>
          </a:endParaRPr>
        </a:p>
      </dsp:txBody>
      <dsp:txXfrm>
        <a:off x="7978790" y="2388221"/>
        <a:ext cx="1097012" cy="64222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7AEF2-99E9-5E9C-9FC1-DE3E52A8BD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81B88353-2002-4372-ADEA-E47A348FCD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EAF7393-3634-4B96-2DA0-06300C5E496F}"/>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5" name="Footer Placeholder 4">
            <a:extLst>
              <a:ext uri="{FF2B5EF4-FFF2-40B4-BE49-F238E27FC236}">
                <a16:creationId xmlns:a16="http://schemas.microsoft.com/office/drawing/2014/main" id="{CE312EF9-E673-63B5-A80B-DC70C3647E6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2DEDD44-FF1F-0FE1-B39E-A20C1E79AB40}"/>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393599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31A3B-C56E-2F54-3241-B5828A83CCB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4A2325B-A309-CB7F-7D11-BBD2271EA7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2CBF860-3C16-908F-4DA8-9710FE98F730}"/>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5" name="Footer Placeholder 4">
            <a:extLst>
              <a:ext uri="{FF2B5EF4-FFF2-40B4-BE49-F238E27FC236}">
                <a16:creationId xmlns:a16="http://schemas.microsoft.com/office/drawing/2014/main" id="{C45441F1-A459-DE64-F53F-2D309118B8C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3E77E6C-CD10-1354-6F6E-D446ABE9C4AD}"/>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2527585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1B3F2-F0FB-71E6-C1ED-51621AB344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D034EE32-DCD4-45C0-5BBE-1CF14171D9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66C168-83E5-5345-86BF-4ED505AD3A8B}"/>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5" name="Footer Placeholder 4">
            <a:extLst>
              <a:ext uri="{FF2B5EF4-FFF2-40B4-BE49-F238E27FC236}">
                <a16:creationId xmlns:a16="http://schemas.microsoft.com/office/drawing/2014/main" id="{BBBC7404-B872-509F-4E1A-28B192550BA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9E8CF3A-DA28-F4EE-2078-B045DB487272}"/>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727311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2DF26-5838-0E1B-F382-3A77456AB14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904E080-CEF2-77D7-F52B-CF789D9690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D2DB2E90-5341-EABB-89F7-49F23DD2F9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C0AB1497-B1B0-6191-0D9B-0C9C58BFF91D}"/>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6" name="Footer Placeholder 5">
            <a:extLst>
              <a:ext uri="{FF2B5EF4-FFF2-40B4-BE49-F238E27FC236}">
                <a16:creationId xmlns:a16="http://schemas.microsoft.com/office/drawing/2014/main" id="{F58E52CE-6B93-7A9A-08D0-46B7B37062E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B0F18A8-F3B2-D974-14D9-D29913812778}"/>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1808491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6570C-F0B1-9224-8958-4BB8BC7C30D4}"/>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602E769-9916-C1D0-8A0A-6BBC1C666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3FAF08-1421-598E-D030-0B33DF38B8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B0C9E412-2607-0656-6AC1-9728D4E704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475234-2854-B14B-EC3B-7C2F5C9D33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9DAD10D-1201-A356-C9A0-F1D1CC8D67A0}"/>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8" name="Footer Placeholder 7">
            <a:extLst>
              <a:ext uri="{FF2B5EF4-FFF2-40B4-BE49-F238E27FC236}">
                <a16:creationId xmlns:a16="http://schemas.microsoft.com/office/drawing/2014/main" id="{A62F582B-5CB1-7973-7855-634AE1D34471}"/>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6D0F7FF9-C862-019C-5A71-153C78F57BD1}"/>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2150556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09005-3D4A-0B51-DFD7-F41772DF7F06}"/>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D1CE3F5F-063C-611F-31FC-BC73A49F3415}"/>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4" name="Footer Placeholder 3">
            <a:extLst>
              <a:ext uri="{FF2B5EF4-FFF2-40B4-BE49-F238E27FC236}">
                <a16:creationId xmlns:a16="http://schemas.microsoft.com/office/drawing/2014/main" id="{24638605-B37E-A6E0-9C1D-E5B80B7E9BC4}"/>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2895254E-BB1A-7AAE-C41E-4C2227290A7E}"/>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223430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6EBAA0-56A6-4308-5F2A-1F0916E0E2D6}"/>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3" name="Footer Placeholder 2">
            <a:extLst>
              <a:ext uri="{FF2B5EF4-FFF2-40B4-BE49-F238E27FC236}">
                <a16:creationId xmlns:a16="http://schemas.microsoft.com/office/drawing/2014/main" id="{BA310A36-9EF6-CA4B-7DE1-0066BAFDC69F}"/>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CE352316-7BA8-C033-1054-A14AF89C0FA3}"/>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2666223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2D7F-45D7-4612-239B-9489F618CF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505FADB7-9A52-150D-F5EA-DDCE0EFA27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7500902E-0739-1E80-E702-9768F4EF4A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BA4DA3-4787-41F0-BE0E-28BCA96E2576}"/>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6" name="Footer Placeholder 5">
            <a:extLst>
              <a:ext uri="{FF2B5EF4-FFF2-40B4-BE49-F238E27FC236}">
                <a16:creationId xmlns:a16="http://schemas.microsoft.com/office/drawing/2014/main" id="{D7191E34-EC5F-9C3F-1E9A-A969275301D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356E6AA-DE9A-14E7-B810-3D6CF59FE375}"/>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2571400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4432B-7E2D-AFBD-A80C-9D537CEC01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9A2F10C5-7C6B-908D-7763-E52A3557CA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89BA481-E0F6-7CF6-A02E-63E192AA7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983464-DEC9-40D4-4E13-C37C6F959621}"/>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6" name="Footer Placeholder 5">
            <a:extLst>
              <a:ext uri="{FF2B5EF4-FFF2-40B4-BE49-F238E27FC236}">
                <a16:creationId xmlns:a16="http://schemas.microsoft.com/office/drawing/2014/main" id="{9EEE2A6D-3AD2-BCEE-B355-FB33DDC45FD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B6A19EEE-4DC8-5E3E-AA4B-BD3B8A806A08}"/>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12903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6411C-5C7A-8E90-6CF5-27252D386162}"/>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DD3A81D4-C4A7-B14E-5CA3-75DEBA6F0C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13E44BB-6651-05DF-5501-DC49EE891799}"/>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5" name="Footer Placeholder 4">
            <a:extLst>
              <a:ext uri="{FF2B5EF4-FFF2-40B4-BE49-F238E27FC236}">
                <a16:creationId xmlns:a16="http://schemas.microsoft.com/office/drawing/2014/main" id="{A8C77941-2144-DD2F-6E57-60C4766C2D8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B9872B1-AE87-20D4-FE94-35B9F438E962}"/>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2780695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02C944-0ED9-1A3B-78A5-B01BF4A8F4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AA76DD0-BEDA-C50D-EB4B-BFD360654C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EAFE5FB-4553-796F-4B64-70819D17E4FE}"/>
              </a:ext>
            </a:extLst>
          </p:cNvPr>
          <p:cNvSpPr>
            <a:spLocks noGrp="1"/>
          </p:cNvSpPr>
          <p:nvPr>
            <p:ph type="dt" sz="half" idx="10"/>
          </p:nvPr>
        </p:nvSpPr>
        <p:spPr/>
        <p:txBody>
          <a:bodyPr/>
          <a:lstStyle/>
          <a:p>
            <a:fld id="{24C7D714-6C8F-40CE-8B51-636B4F6B9B3D}" type="datetimeFigureOut">
              <a:rPr lang="en-ZA" smtClean="0"/>
              <a:t>2026/06/19</a:t>
            </a:fld>
            <a:endParaRPr lang="en-ZA"/>
          </a:p>
        </p:txBody>
      </p:sp>
      <p:sp>
        <p:nvSpPr>
          <p:cNvPr id="5" name="Footer Placeholder 4">
            <a:extLst>
              <a:ext uri="{FF2B5EF4-FFF2-40B4-BE49-F238E27FC236}">
                <a16:creationId xmlns:a16="http://schemas.microsoft.com/office/drawing/2014/main" id="{E057FD7E-1A16-AD15-52C2-EFF2F897F17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88B6FF6-615D-B3AA-7080-E62D14300B1D}"/>
              </a:ext>
            </a:extLst>
          </p:cNvPr>
          <p:cNvSpPr>
            <a:spLocks noGrp="1"/>
          </p:cNvSpPr>
          <p:nvPr>
            <p:ph type="sldNum" sz="quarter" idx="12"/>
          </p:nvPr>
        </p:nvSpPr>
        <p:spPr/>
        <p:txBody>
          <a:bodyPr/>
          <a:lstStyle/>
          <a:p>
            <a:fld id="{0D0AED69-F504-45C2-A927-3327210E1BFB}" type="slidenum">
              <a:rPr lang="en-ZA" smtClean="0"/>
              <a:t>‹#›</a:t>
            </a:fld>
            <a:endParaRPr lang="en-ZA"/>
          </a:p>
        </p:txBody>
      </p:sp>
    </p:spTree>
    <p:extLst>
      <p:ext uri="{BB962C8B-B14F-4D97-AF65-F5344CB8AC3E}">
        <p14:creationId xmlns:p14="http://schemas.microsoft.com/office/powerpoint/2010/main" val="805741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0"/>
              </a:schemeClr>
            </a:gs>
            <a:gs pos="100000">
              <a:schemeClr val="accent5"/>
            </a:gs>
          </a:gsLst>
          <a:lin ang="135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7C8B1-5B7A-4F5A-4B6E-0BAE0BCC03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45E2221-8C67-9CAC-90E0-920B73B5FB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9F9DBFA-4EE9-0B7B-E09F-055BFF9036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C7D714-6C8F-40CE-8B51-636B4F6B9B3D}" type="datetimeFigureOut">
              <a:rPr lang="en-ZA" smtClean="0"/>
              <a:t>2026/06/19</a:t>
            </a:fld>
            <a:endParaRPr lang="en-ZA"/>
          </a:p>
        </p:txBody>
      </p:sp>
      <p:sp>
        <p:nvSpPr>
          <p:cNvPr id="5" name="Footer Placeholder 4">
            <a:extLst>
              <a:ext uri="{FF2B5EF4-FFF2-40B4-BE49-F238E27FC236}">
                <a16:creationId xmlns:a16="http://schemas.microsoft.com/office/drawing/2014/main" id="{2590C2CF-BCE4-E2BF-9BF6-2C952C8D2D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4699A982-5655-09B6-A7A1-785B812643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0AED69-F504-45C2-A927-3327210E1BFB}" type="slidenum">
              <a:rPr lang="en-ZA" smtClean="0"/>
              <a:t>‹#›</a:t>
            </a:fld>
            <a:endParaRPr lang="en-ZA"/>
          </a:p>
        </p:txBody>
      </p:sp>
    </p:spTree>
    <p:extLst>
      <p:ext uri="{BB962C8B-B14F-4D97-AF65-F5344CB8AC3E}">
        <p14:creationId xmlns:p14="http://schemas.microsoft.com/office/powerpoint/2010/main" val="67253180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extLst>
              <a:ext uri="{28A0092B-C50C-407E-A947-70E740481C1C}">
                <a14:useLocalDpi xmlns:a14="http://schemas.microsoft.com/office/drawing/2010/main" val="0"/>
              </a:ext>
            </a:extLst>
          </a:blip>
          <a:stretch>
            <a:fillRect/>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283134-D3C5-2C73-07A0-E4170FC9D4A7}"/>
              </a:ext>
            </a:extLst>
          </p:cNvPr>
          <p:cNvSpPr/>
          <p:nvPr/>
        </p:nvSpPr>
        <p:spPr>
          <a:xfrm>
            <a:off x="0" y="0"/>
            <a:ext cx="12192000" cy="6858000"/>
          </a:xfrm>
          <a:prstGeom prst="rect">
            <a:avLst/>
          </a:prstGeom>
          <a:gradFill flip="none" rotWithShape="1">
            <a:gsLst>
              <a:gs pos="30000">
                <a:srgbClr val="1F1F1F"/>
              </a:gs>
              <a:gs pos="0">
                <a:schemeClr val="bg2">
                  <a:lumMod val="10000"/>
                </a:schemeClr>
              </a:gs>
              <a:gs pos="50000">
                <a:srgbClr val="262626">
                  <a:alpha val="70000"/>
                </a:srgbClr>
              </a:gs>
              <a:gs pos="75000">
                <a:srgbClr val="404040">
                  <a:alpha val="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1">
            <a:extLst>
              <a:ext uri="{FF2B5EF4-FFF2-40B4-BE49-F238E27FC236}">
                <a16:creationId xmlns:a16="http://schemas.microsoft.com/office/drawing/2014/main" id="{BA0011BF-3DB7-6E1B-828C-EA93E486FB27}"/>
              </a:ext>
            </a:extLst>
          </p:cNvPr>
          <p:cNvSpPr>
            <a:spLocks noGrp="1"/>
          </p:cNvSpPr>
          <p:nvPr>
            <p:ph type="ctrTitle"/>
          </p:nvPr>
        </p:nvSpPr>
        <p:spPr>
          <a:xfrm>
            <a:off x="3048000" y="1122363"/>
            <a:ext cx="9144000" cy="2387600"/>
          </a:xfrm>
        </p:spPr>
        <p:txBody>
          <a:bodyPr>
            <a:normAutofit/>
          </a:bodyPr>
          <a:lstStyle/>
          <a:p>
            <a:pPr algn="r"/>
            <a:r>
              <a:rPr lang="en-US" sz="4500" dirty="0">
                <a:solidFill>
                  <a:schemeClr val="bg1"/>
                </a:solidFill>
                <a:latin typeface="Arial" panose="020B0604020202020204" pitchFamily="34" charset="0"/>
                <a:cs typeface="Arial" panose="020B0604020202020204" pitchFamily="34" charset="0"/>
              </a:rPr>
              <a:t>C2C Marketplace for local community members</a:t>
            </a:r>
            <a:br>
              <a:rPr lang="en-US" sz="4500" dirty="0">
                <a:solidFill>
                  <a:schemeClr val="bg1"/>
                </a:solidFill>
                <a:latin typeface="Arial" panose="020B0604020202020204" pitchFamily="34" charset="0"/>
                <a:cs typeface="Arial" panose="020B0604020202020204" pitchFamily="34" charset="0"/>
              </a:rPr>
            </a:br>
            <a:endParaRPr lang="en-ZA" sz="4500" dirty="0">
              <a:solidFill>
                <a:schemeClr val="bg1"/>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5D9638EF-4CEB-D121-EC5A-ED3003075E2E}"/>
              </a:ext>
            </a:extLst>
          </p:cNvPr>
          <p:cNvSpPr>
            <a:spLocks noGrp="1"/>
          </p:cNvSpPr>
          <p:nvPr>
            <p:ph type="subTitle" idx="1"/>
          </p:nvPr>
        </p:nvSpPr>
        <p:spPr>
          <a:xfrm>
            <a:off x="3048000" y="3602038"/>
            <a:ext cx="9144000" cy="2387600"/>
          </a:xfrm>
        </p:spPr>
        <p:txBody>
          <a:bodyPr>
            <a:normAutofit/>
          </a:bodyPr>
          <a:lstStyle/>
          <a:p>
            <a:pPr algn="r"/>
            <a:r>
              <a:rPr lang="en-US" sz="2000" dirty="0">
                <a:solidFill>
                  <a:schemeClr val="bg1"/>
                </a:solidFill>
                <a:latin typeface="Arial" panose="020B0604020202020204" pitchFamily="34" charset="0"/>
                <a:cs typeface="Arial" panose="020B0604020202020204" pitchFamily="34" charset="0"/>
              </a:rPr>
              <a:t>Keenan Batista – EDUV4845350</a:t>
            </a:r>
          </a:p>
          <a:p>
            <a:pPr algn="r"/>
            <a:endParaRPr lang="en-US" sz="2000" dirty="0">
              <a:solidFill>
                <a:schemeClr val="bg1"/>
              </a:solidFill>
              <a:latin typeface="Arial" panose="020B0604020202020204" pitchFamily="34" charset="0"/>
              <a:cs typeface="Arial" panose="020B0604020202020204" pitchFamily="34" charset="0"/>
            </a:endParaRPr>
          </a:p>
          <a:p>
            <a:pPr algn="r"/>
            <a:r>
              <a:rPr lang="en-ZA" sz="2000" dirty="0">
                <a:solidFill>
                  <a:schemeClr val="bg1"/>
                </a:solidFill>
                <a:latin typeface="Arial" panose="020B0604020202020204" pitchFamily="34" charset="0"/>
                <a:cs typeface="Arial" panose="020B0604020202020204" pitchFamily="34" charset="0"/>
              </a:rPr>
              <a:t>ITECA3-12 Web Development</a:t>
            </a:r>
          </a:p>
          <a:p>
            <a:pPr algn="r"/>
            <a:r>
              <a:rPr lang="en-ZA" sz="2000" dirty="0">
                <a:solidFill>
                  <a:schemeClr val="bg1"/>
                </a:solidFill>
                <a:latin typeface="Arial" panose="020B0604020202020204" pitchFamily="34" charset="0"/>
                <a:cs typeface="Arial" panose="020B0604020202020204" pitchFamily="34" charset="0"/>
              </a:rPr>
              <a:t>and e-Commerce</a:t>
            </a:r>
          </a:p>
          <a:p>
            <a:pPr algn="r"/>
            <a:endParaRPr lang="en-ZA" sz="2000" dirty="0">
              <a:solidFill>
                <a:schemeClr val="bg1"/>
              </a:solidFill>
              <a:latin typeface="Arial" panose="020B0604020202020204" pitchFamily="34" charset="0"/>
              <a:cs typeface="Arial" panose="020B0604020202020204" pitchFamily="34" charset="0"/>
            </a:endParaRPr>
          </a:p>
          <a:p>
            <a:pPr algn="r"/>
            <a:r>
              <a:rPr lang="en-ZA" sz="2000" dirty="0">
                <a:solidFill>
                  <a:schemeClr val="bg1"/>
                </a:solidFill>
                <a:latin typeface="Arial" panose="020B0604020202020204" pitchFamily="34" charset="0"/>
                <a:cs typeface="Arial" panose="020B0604020202020204" pitchFamily="34" charset="0"/>
              </a:rPr>
              <a:t>Jealous </a:t>
            </a:r>
            <a:r>
              <a:rPr lang="en-ZA" sz="2000" dirty="0" err="1">
                <a:solidFill>
                  <a:schemeClr val="bg1"/>
                </a:solidFill>
                <a:latin typeface="Arial" panose="020B0604020202020204" pitchFamily="34" charset="0"/>
                <a:cs typeface="Arial" panose="020B0604020202020204" pitchFamily="34" charset="0"/>
              </a:rPr>
              <a:t>Kamwaya</a:t>
            </a:r>
            <a:r>
              <a:rPr lang="en-ZA" sz="2000" dirty="0">
                <a:solidFill>
                  <a:schemeClr val="bg1"/>
                </a:solidFill>
                <a:latin typeface="Arial" panose="020B0604020202020204" pitchFamily="34" charset="0"/>
                <a:cs typeface="Arial" panose="020B0604020202020204" pitchFamily="34" charset="0"/>
              </a:rPr>
              <a:t> – 29/06/2026</a:t>
            </a:r>
          </a:p>
        </p:txBody>
      </p:sp>
    </p:spTree>
    <p:extLst>
      <p:ext uri="{BB962C8B-B14F-4D97-AF65-F5344CB8AC3E}">
        <p14:creationId xmlns:p14="http://schemas.microsoft.com/office/powerpoint/2010/main" val="2856243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0638-401A-B664-2D46-0121A1235E6E}"/>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Overview</a:t>
            </a:r>
            <a:endParaRPr lang="en-ZA" dirty="0">
              <a:solidFill>
                <a:schemeClr val="bg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2CCCDDE-16DA-585D-C9A2-FA89B11C4F77}"/>
              </a:ext>
            </a:extLst>
          </p:cNvPr>
          <p:cNvSpPr>
            <a:spLocks noGrp="1"/>
          </p:cNvSpPr>
          <p:nvPr>
            <p:ph idx="1"/>
          </p:nvPr>
        </p:nvSpPr>
        <p:spPr>
          <a:xfrm>
            <a:off x="838200" y="1902228"/>
            <a:ext cx="10515600" cy="4351338"/>
          </a:xfrm>
          <a:prstGeom prst="roundRect">
            <a:avLst/>
          </a:prstGeom>
          <a:solidFill>
            <a:schemeClr val="bg1"/>
          </a:solidFill>
          <a:effectLst>
            <a:outerShdw blurRad="50800" dist="38100" dir="2700000" algn="tl" rotWithShape="0">
              <a:prstClr val="black">
                <a:alpha val="40000"/>
              </a:prstClr>
            </a:outerShdw>
            <a:softEdge rad="0"/>
          </a:effectLst>
        </p:spPr>
        <p:txBody>
          <a:bodyPr anchor="ctr">
            <a:normAutofit/>
          </a:bodyPr>
          <a:lstStyle/>
          <a:p>
            <a:pPr>
              <a:spcBef>
                <a:spcPts val="2000"/>
              </a:spcBef>
            </a:pPr>
            <a:r>
              <a:rPr lang="en-US" dirty="0">
                <a:latin typeface="Arial" panose="020B0604020202020204" pitchFamily="34" charset="0"/>
                <a:cs typeface="Arial" panose="020B0604020202020204" pitchFamily="34" charset="0"/>
              </a:rPr>
              <a:t>My project is a C2C e-commerce platform where local community members can purchase items that are listed by other members or small businesses.</a:t>
            </a:r>
          </a:p>
          <a:p>
            <a:pPr>
              <a:spcBef>
                <a:spcPts val="2000"/>
              </a:spcBef>
            </a:pPr>
            <a:r>
              <a:rPr lang="en-US" dirty="0">
                <a:latin typeface="Arial" panose="020B0604020202020204" pitchFamily="34" charset="0"/>
                <a:cs typeface="Arial" panose="020B0604020202020204" pitchFamily="34" charset="0"/>
              </a:rPr>
              <a:t>This platform is designed to solve the issue of </a:t>
            </a:r>
            <a:r>
              <a:rPr lang="en-US">
                <a:latin typeface="Arial" panose="020B0604020202020204" pitchFamily="34" charset="0"/>
                <a:cs typeface="Arial" panose="020B0604020202020204" pitchFamily="34" charset="0"/>
              </a:rPr>
              <a:t>distrust towards </a:t>
            </a:r>
            <a:r>
              <a:rPr lang="en-US" dirty="0">
                <a:latin typeface="Arial" panose="020B0604020202020204" pitchFamily="34" charset="0"/>
                <a:cs typeface="Arial" panose="020B0604020202020204" pitchFamily="34" charset="0"/>
              </a:rPr>
              <a:t>online marketplaces by promoting collaboration through communication, in addition to strengthening the local economy where communities can interact with each other.</a:t>
            </a:r>
            <a:endParaRPr lang="en-ZA" dirty="0">
              <a:latin typeface="Arial" panose="020B0604020202020204" pitchFamily="34" charset="0"/>
              <a:cs typeface="Arial" panose="020B0604020202020204" pitchFamily="34" charset="0"/>
            </a:endParaRPr>
          </a:p>
        </p:txBody>
      </p:sp>
      <p:cxnSp>
        <p:nvCxnSpPr>
          <p:cNvPr id="5" name="Straight Connector 4">
            <a:extLst>
              <a:ext uri="{FF2B5EF4-FFF2-40B4-BE49-F238E27FC236}">
                <a16:creationId xmlns:a16="http://schemas.microsoft.com/office/drawing/2014/main" id="{2C00A054-A434-1F4B-453C-1AF02638B766}"/>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560583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384936-D67C-5997-3755-05BE601F4D82}"/>
              </a:ext>
            </a:extLst>
          </p:cNvPr>
          <p:cNvSpPr>
            <a:spLocks noGrp="1"/>
          </p:cNvSpPr>
          <p:nvPr>
            <p:ph idx="1"/>
          </p:nvPr>
        </p:nvSpPr>
        <p:spPr>
          <a:prstGeom prst="roundRect">
            <a:avLst/>
          </a:prstGeom>
          <a:solidFill>
            <a:schemeClr val="bg1"/>
          </a:solidFill>
          <a:effectLst>
            <a:outerShdw blurRad="50800" dist="38100" dir="2700000" algn="tl" rotWithShape="0">
              <a:prstClr val="black">
                <a:alpha val="40000"/>
              </a:prstClr>
            </a:outerShdw>
          </a:effectLst>
        </p:spPr>
        <p:txBody>
          <a:bodyPr anchor="ctr">
            <a:normAutofit fontScale="77500" lnSpcReduction="20000"/>
          </a:bodyPr>
          <a:lstStyle/>
          <a:p>
            <a:pPr>
              <a:spcBef>
                <a:spcPts val="2000"/>
              </a:spcBef>
            </a:pPr>
            <a:r>
              <a:rPr lang="en-US" dirty="0">
                <a:latin typeface="Arial" panose="020B0604020202020204" pitchFamily="34" charset="0"/>
                <a:cs typeface="Arial" panose="020B0604020202020204" pitchFamily="34" charset="0"/>
              </a:rPr>
              <a:t>User registration and login.</a:t>
            </a:r>
          </a:p>
          <a:p>
            <a:pPr>
              <a:spcBef>
                <a:spcPts val="2000"/>
              </a:spcBef>
            </a:pPr>
            <a:r>
              <a:rPr lang="en-US" dirty="0">
                <a:latin typeface="Arial" panose="020B0604020202020204" pitchFamily="34" charset="0"/>
                <a:cs typeface="Arial" panose="020B0604020202020204" pitchFamily="34" charset="0"/>
              </a:rPr>
              <a:t>Update account details.</a:t>
            </a:r>
          </a:p>
          <a:p>
            <a:pPr>
              <a:spcBef>
                <a:spcPts val="2000"/>
              </a:spcBef>
            </a:pPr>
            <a:r>
              <a:rPr lang="en-US" dirty="0">
                <a:latin typeface="Arial" panose="020B0604020202020204" pitchFamily="34" charset="0"/>
                <a:cs typeface="Arial" panose="020B0604020202020204" pitchFamily="34" charset="0"/>
              </a:rPr>
              <a:t>Create and update listings.</a:t>
            </a:r>
          </a:p>
          <a:p>
            <a:pPr>
              <a:spcBef>
                <a:spcPts val="2000"/>
              </a:spcBef>
            </a:pPr>
            <a:r>
              <a:rPr lang="en-US" dirty="0">
                <a:latin typeface="Arial" panose="020B0604020202020204" pitchFamily="34" charset="0"/>
                <a:cs typeface="Arial" panose="020B0604020202020204" pitchFamily="34" charset="0"/>
              </a:rPr>
              <a:t>Update and complete deliveries.</a:t>
            </a:r>
          </a:p>
          <a:p>
            <a:pPr>
              <a:spcBef>
                <a:spcPts val="2000"/>
              </a:spcBef>
            </a:pPr>
            <a:r>
              <a:rPr lang="en-US" dirty="0">
                <a:latin typeface="Arial" panose="020B0604020202020204" pitchFamily="34" charset="0"/>
                <a:cs typeface="Arial" panose="020B0604020202020204" pitchFamily="34" charset="0"/>
              </a:rPr>
              <a:t>Chat with the other user associated with a delivery.</a:t>
            </a:r>
          </a:p>
          <a:p>
            <a:pPr>
              <a:spcBef>
                <a:spcPts val="2000"/>
              </a:spcBef>
            </a:pPr>
            <a:r>
              <a:rPr lang="en-US" dirty="0">
                <a:latin typeface="Arial" panose="020B0604020202020204" pitchFamily="34" charset="0"/>
                <a:cs typeface="Arial" panose="020B0604020202020204" pitchFamily="34" charset="0"/>
              </a:rPr>
              <a:t>Rate a user after a delivery is completed.</a:t>
            </a:r>
          </a:p>
          <a:p>
            <a:pPr>
              <a:spcBef>
                <a:spcPts val="2000"/>
              </a:spcBef>
            </a:pPr>
            <a:r>
              <a:rPr lang="en-US" dirty="0">
                <a:latin typeface="Arial" panose="020B0604020202020204" pitchFamily="34" charset="0"/>
                <a:cs typeface="Arial" panose="020B0604020202020204" pitchFamily="34" charset="0"/>
              </a:rPr>
              <a:t>Search for and filter listings as well as users.</a:t>
            </a:r>
          </a:p>
          <a:p>
            <a:pPr>
              <a:spcBef>
                <a:spcPts val="2000"/>
              </a:spcBef>
            </a:pPr>
            <a:r>
              <a:rPr lang="en-ZA" dirty="0">
                <a:latin typeface="Arial" panose="020B0604020202020204" pitchFamily="34" charset="0"/>
                <a:cs typeface="Arial" panose="020B0604020202020204" pitchFamily="34" charset="0"/>
              </a:rPr>
              <a:t>Create, update and delete users as well as listings. (Admin management)</a:t>
            </a:r>
          </a:p>
        </p:txBody>
      </p:sp>
      <p:sp>
        <p:nvSpPr>
          <p:cNvPr id="6" name="Title 1">
            <a:extLst>
              <a:ext uri="{FF2B5EF4-FFF2-40B4-BE49-F238E27FC236}">
                <a16:creationId xmlns:a16="http://schemas.microsoft.com/office/drawing/2014/main" id="{285C38AF-604A-565E-52F6-4A42E5603DA2}"/>
              </a:ext>
            </a:extLst>
          </p:cNvPr>
          <p:cNvSpPr txBox="1">
            <a:spLocks/>
          </p:cNvSpPr>
          <p:nvPr/>
        </p:nvSpPr>
        <p:spPr>
          <a:xfrm>
            <a:off x="0" y="0"/>
            <a:ext cx="12192000" cy="1325563"/>
          </a:xfrm>
          <a:prstGeom prst="rect">
            <a:avLst/>
          </a:prstGeo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solidFill>
                  <a:schemeClr val="bg1"/>
                </a:solidFill>
                <a:latin typeface="Arial" panose="020B0604020202020204" pitchFamily="34" charset="0"/>
                <a:cs typeface="Arial" panose="020B0604020202020204" pitchFamily="34" charset="0"/>
              </a:rPr>
              <a:t>Functional Requirements</a:t>
            </a:r>
            <a:endParaRPr lang="en-ZA" dirty="0">
              <a:solidFill>
                <a:schemeClr val="bg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41E03382-6F54-1F5A-21A3-5D3EFFC4FA27}"/>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676873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EBC925-6A42-21AC-17EF-7847D9495A6C}"/>
              </a:ext>
            </a:extLst>
          </p:cNvPr>
          <p:cNvSpPr>
            <a:spLocks noGrp="1"/>
          </p:cNvSpPr>
          <p:nvPr>
            <p:ph idx="1"/>
          </p:nvPr>
        </p:nvSpPr>
        <p:spPr>
          <a:xfrm>
            <a:off x="838200" y="1825625"/>
            <a:ext cx="10515600" cy="4351338"/>
          </a:xfrm>
          <a:prstGeom prst="roundRect">
            <a:avLst/>
          </a:prstGeom>
          <a:solidFill>
            <a:schemeClr val="bg1"/>
          </a:solidFill>
          <a:effectLst>
            <a:outerShdw blurRad="50800" dist="38100" dir="2700000" algn="tl" rotWithShape="0">
              <a:prstClr val="black">
                <a:alpha val="40000"/>
              </a:prstClr>
            </a:outerShdw>
          </a:effectLst>
        </p:spPr>
        <p:txBody>
          <a:bodyPr>
            <a:normAutofit fontScale="85000" lnSpcReduction="20000"/>
          </a:bodyPr>
          <a:lstStyle/>
          <a:p>
            <a:pPr>
              <a:spcBef>
                <a:spcPts val="2000"/>
              </a:spcBef>
            </a:pPr>
            <a:r>
              <a:rPr lang="en-US" dirty="0">
                <a:latin typeface="Arial" panose="020B0604020202020204" pitchFamily="34" charset="0"/>
                <a:cs typeface="Arial" panose="020B0604020202020204" pitchFamily="34" charset="0"/>
              </a:rPr>
              <a:t>Quick loading time between web pages (&lt; 2 seconds).</a:t>
            </a:r>
          </a:p>
          <a:p>
            <a:pPr>
              <a:spcBef>
                <a:spcPts val="2000"/>
              </a:spcBef>
            </a:pPr>
            <a:r>
              <a:rPr lang="en-US" dirty="0">
                <a:latin typeface="Arial" panose="020B0604020202020204" pitchFamily="34" charset="0"/>
                <a:cs typeface="Arial" panose="020B0604020202020204" pitchFamily="34" charset="0"/>
              </a:rPr>
              <a:t>Responsive layout design that accommodates desktops, tablets and mobile phones.</a:t>
            </a:r>
          </a:p>
          <a:p>
            <a:pPr>
              <a:spcBef>
                <a:spcPts val="2000"/>
              </a:spcBef>
            </a:pPr>
            <a:r>
              <a:rPr lang="en-ZA" dirty="0">
                <a:latin typeface="Arial" panose="020B0604020202020204" pitchFamily="34" charset="0"/>
                <a:cs typeface="Arial" panose="020B0604020202020204" pitchFamily="34" charset="0"/>
              </a:rPr>
              <a:t>Reliable database error detection and rollback.</a:t>
            </a:r>
          </a:p>
          <a:p>
            <a:pPr>
              <a:spcBef>
                <a:spcPts val="2000"/>
              </a:spcBef>
            </a:pPr>
            <a:r>
              <a:rPr lang="en-ZA" dirty="0">
                <a:latin typeface="Arial" panose="020B0604020202020204" pitchFamily="34" charset="0"/>
                <a:cs typeface="Arial" panose="020B0604020202020204" pitchFamily="34" charset="0"/>
              </a:rPr>
              <a:t>Reliable input validation.</a:t>
            </a:r>
          </a:p>
          <a:p>
            <a:pPr>
              <a:spcBef>
                <a:spcPts val="2000"/>
              </a:spcBef>
            </a:pPr>
            <a:r>
              <a:rPr lang="en-ZA" dirty="0">
                <a:latin typeface="Arial" panose="020B0604020202020204" pitchFamily="34" charset="0"/>
                <a:cs typeface="Arial" panose="020B0604020202020204" pitchFamily="34" charset="0"/>
              </a:rPr>
              <a:t>User friendly interface that indicates input errors.</a:t>
            </a:r>
          </a:p>
          <a:p>
            <a:pPr>
              <a:spcBef>
                <a:spcPts val="2000"/>
              </a:spcBef>
            </a:pPr>
            <a:r>
              <a:rPr lang="en-ZA" dirty="0">
                <a:latin typeface="Arial" panose="020B0604020202020204" pitchFamily="34" charset="0"/>
                <a:cs typeface="Arial" panose="020B0604020202020204" pitchFamily="34" charset="0"/>
              </a:rPr>
              <a:t>Scalable for multiple users.</a:t>
            </a:r>
          </a:p>
          <a:p>
            <a:pPr>
              <a:spcBef>
                <a:spcPts val="2000"/>
              </a:spcBef>
            </a:pPr>
            <a:r>
              <a:rPr lang="en-ZA" dirty="0">
                <a:latin typeface="Arial" panose="020B0604020202020204" pitchFamily="34" charset="0"/>
                <a:cs typeface="Arial" panose="020B0604020202020204" pitchFamily="34" charset="0"/>
              </a:rPr>
              <a:t>Short toast messages that indicate successful or unsuccessful interactions.</a:t>
            </a:r>
          </a:p>
        </p:txBody>
      </p:sp>
      <p:sp>
        <p:nvSpPr>
          <p:cNvPr id="6" name="Title 1">
            <a:extLst>
              <a:ext uri="{FF2B5EF4-FFF2-40B4-BE49-F238E27FC236}">
                <a16:creationId xmlns:a16="http://schemas.microsoft.com/office/drawing/2014/main" id="{296D633E-9F6D-1D51-B916-AC7B419EB491}"/>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Non-functional Requirements</a:t>
            </a:r>
            <a:endParaRPr lang="en-ZA" dirty="0">
              <a:solidFill>
                <a:schemeClr val="bg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C42C7DF0-4930-D92A-5C6B-0833131F5321}"/>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464461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6A5F22-6429-08F0-6FFC-DE96836C4FEA}"/>
              </a:ext>
            </a:extLst>
          </p:cNvPr>
          <p:cNvSpPr>
            <a:spLocks noGrp="1"/>
          </p:cNvSpPr>
          <p:nvPr>
            <p:ph idx="1"/>
          </p:nvPr>
        </p:nvSpPr>
        <p:spPr>
          <a:xfrm>
            <a:off x="649227" y="1735817"/>
            <a:ext cx="10893546" cy="4757974"/>
          </a:xfrm>
          <a:prstGeom prst="roundRect">
            <a:avLst/>
          </a:prstGeom>
          <a:solidFill>
            <a:schemeClr val="bg1"/>
          </a:solidFill>
          <a:effectLst>
            <a:outerShdw blurRad="50800" dist="38100" dir="2700000" algn="tl" rotWithShape="0">
              <a:prstClr val="black">
                <a:alpha val="40000"/>
              </a:prstClr>
            </a:outerShdw>
          </a:effectLst>
        </p:spPr>
        <p:txBody>
          <a:bodyPr>
            <a:normAutofit fontScale="70000" lnSpcReduction="20000"/>
          </a:bodyPr>
          <a:lstStyle/>
          <a:p>
            <a:pPr>
              <a:spcBef>
                <a:spcPts val="2000"/>
              </a:spcBef>
            </a:pPr>
            <a:r>
              <a:rPr lang="en-US" b="1" dirty="0">
                <a:latin typeface="Arial" panose="020B0604020202020204" pitchFamily="34" charset="0"/>
                <a:cs typeface="Arial" panose="020B0604020202020204" pitchFamily="34" charset="0"/>
              </a:rPr>
              <a:t>HTML – </a:t>
            </a:r>
            <a:r>
              <a:rPr lang="en-US" dirty="0">
                <a:latin typeface="Arial" panose="020B0604020202020204" pitchFamily="34" charset="0"/>
                <a:cs typeface="Arial" panose="020B0604020202020204" pitchFamily="34" charset="0"/>
              </a:rPr>
              <a:t>Defines the structure of web pages.</a:t>
            </a:r>
          </a:p>
          <a:p>
            <a:pPr>
              <a:spcBef>
                <a:spcPts val="2000"/>
              </a:spcBef>
            </a:pPr>
            <a:r>
              <a:rPr lang="en-US" b="1" dirty="0">
                <a:latin typeface="Arial" panose="020B0604020202020204" pitchFamily="34" charset="0"/>
                <a:cs typeface="Arial" panose="020B0604020202020204" pitchFamily="34" charset="0"/>
              </a:rPr>
              <a:t>CSS – </a:t>
            </a:r>
            <a:r>
              <a:rPr lang="en-US" dirty="0">
                <a:latin typeface="Arial" panose="020B0604020202020204" pitchFamily="34" charset="0"/>
                <a:cs typeface="Arial" panose="020B0604020202020204" pitchFamily="34" charset="0"/>
              </a:rPr>
              <a:t>Defines the layout and styling elements of web pages.</a:t>
            </a:r>
            <a:endParaRPr lang="en-ZA" b="1" dirty="0">
              <a:latin typeface="Arial" panose="020B0604020202020204" pitchFamily="34" charset="0"/>
              <a:cs typeface="Arial" panose="020B0604020202020204" pitchFamily="34" charset="0"/>
            </a:endParaRPr>
          </a:p>
          <a:p>
            <a:pPr>
              <a:spcBef>
                <a:spcPts val="2000"/>
              </a:spcBef>
            </a:pPr>
            <a:r>
              <a:rPr lang="en-US" b="1" dirty="0">
                <a:latin typeface="Arial" panose="020B0604020202020204" pitchFamily="34" charset="0"/>
                <a:cs typeface="Arial" panose="020B0604020202020204" pitchFamily="34" charset="0"/>
              </a:rPr>
              <a:t>JavaScript – </a:t>
            </a:r>
            <a:r>
              <a:rPr lang="en-US" dirty="0">
                <a:latin typeface="Arial" panose="020B0604020202020204" pitchFamily="34" charset="0"/>
                <a:cs typeface="Arial" panose="020B0604020202020204" pitchFamily="34" charset="0"/>
              </a:rPr>
              <a:t>Quick input validation and messages.</a:t>
            </a:r>
            <a:endParaRPr lang="en-ZA" b="1" dirty="0">
              <a:latin typeface="Arial" panose="020B0604020202020204" pitchFamily="34" charset="0"/>
              <a:cs typeface="Arial" panose="020B0604020202020204" pitchFamily="34" charset="0"/>
            </a:endParaRPr>
          </a:p>
          <a:p>
            <a:pPr>
              <a:spcBef>
                <a:spcPts val="2000"/>
              </a:spcBef>
            </a:pPr>
            <a:r>
              <a:rPr lang="en-US" b="1" dirty="0">
                <a:latin typeface="Arial" panose="020B0604020202020204" pitchFamily="34" charset="0"/>
                <a:cs typeface="Arial" panose="020B0604020202020204" pitchFamily="34" charset="0"/>
              </a:rPr>
              <a:t>PHP – </a:t>
            </a:r>
            <a:r>
              <a:rPr lang="en-US" dirty="0">
                <a:latin typeface="Arial" panose="020B0604020202020204" pitchFamily="34" charset="0"/>
                <a:cs typeface="Arial" panose="020B0604020202020204" pitchFamily="34" charset="0"/>
              </a:rPr>
              <a:t>Enables for dynamic content on the front-end and processes data as well as validate input.</a:t>
            </a:r>
          </a:p>
          <a:p>
            <a:pPr>
              <a:spcBef>
                <a:spcPts val="2000"/>
              </a:spcBef>
            </a:pPr>
            <a:r>
              <a:rPr lang="en-US" b="1" dirty="0">
                <a:latin typeface="Arial" panose="020B0604020202020204" pitchFamily="34" charset="0"/>
                <a:cs typeface="Arial" panose="020B0604020202020204" pitchFamily="34" charset="0"/>
              </a:rPr>
              <a:t>MySQL – </a:t>
            </a:r>
            <a:r>
              <a:rPr lang="en-US" dirty="0">
                <a:latin typeface="Arial" panose="020B0604020202020204" pitchFamily="34" charset="0"/>
                <a:cs typeface="Arial" panose="020B0604020202020204" pitchFamily="34" charset="0"/>
              </a:rPr>
              <a:t>Stores all data relevant of the platform (buyer, vendor, listing, deliveries, etc.).</a:t>
            </a:r>
          </a:p>
          <a:p>
            <a:pPr>
              <a:spcBef>
                <a:spcPts val="2000"/>
              </a:spcBef>
            </a:pPr>
            <a:r>
              <a:rPr lang="en-US" b="1" dirty="0">
                <a:latin typeface="Arial" panose="020B0604020202020204" pitchFamily="34" charset="0"/>
                <a:cs typeface="Arial" panose="020B0604020202020204" pitchFamily="34" charset="0"/>
              </a:rPr>
              <a:t>VS Code – </a:t>
            </a:r>
            <a:r>
              <a:rPr lang="en-US" dirty="0">
                <a:latin typeface="Arial" panose="020B0604020202020204" pitchFamily="34" charset="0"/>
                <a:cs typeface="Arial" panose="020B0604020202020204" pitchFamily="34" charset="0"/>
              </a:rPr>
              <a:t>A code editor used to create and test the platform.</a:t>
            </a:r>
          </a:p>
          <a:p>
            <a:pPr>
              <a:spcBef>
                <a:spcPts val="2000"/>
              </a:spcBef>
            </a:pPr>
            <a:r>
              <a:rPr lang="en-US" b="1" dirty="0">
                <a:latin typeface="Arial" panose="020B0604020202020204" pitchFamily="34" charset="0"/>
                <a:cs typeface="Arial" panose="020B0604020202020204" pitchFamily="34" charset="0"/>
              </a:rPr>
              <a:t>XAMPP/Apache – </a:t>
            </a:r>
            <a:r>
              <a:rPr lang="en-US" dirty="0">
                <a:latin typeface="Arial" panose="020B0604020202020204" pitchFamily="34" charset="0"/>
                <a:cs typeface="Arial" panose="020B0604020202020204" pitchFamily="34" charset="0"/>
              </a:rPr>
              <a:t>Enables the platform to be hosted locally for testing purposes.</a:t>
            </a:r>
          </a:p>
          <a:p>
            <a:pPr>
              <a:spcBef>
                <a:spcPts val="2000"/>
              </a:spcBef>
            </a:pPr>
            <a:r>
              <a:rPr lang="en-US" b="1" dirty="0" err="1">
                <a:latin typeface="Arial" panose="020B0604020202020204" pitchFamily="34" charset="0"/>
                <a:cs typeface="Arial" panose="020B0604020202020204" pitchFamily="34" charset="0"/>
              </a:rPr>
              <a:t>InfinityFree</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Enables the platform to be hosted online.</a:t>
            </a:r>
          </a:p>
          <a:p>
            <a:pPr>
              <a:spcBef>
                <a:spcPts val="2000"/>
              </a:spcBef>
            </a:pPr>
            <a:r>
              <a:rPr lang="en-US" b="1" dirty="0">
                <a:latin typeface="Arial" panose="020B0604020202020204" pitchFamily="34" charset="0"/>
                <a:cs typeface="Arial" panose="020B0604020202020204" pitchFamily="34" charset="0"/>
              </a:rPr>
              <a:t>GitHub – </a:t>
            </a:r>
            <a:r>
              <a:rPr lang="en-US" dirty="0">
                <a:latin typeface="Arial" panose="020B0604020202020204" pitchFamily="34" charset="0"/>
                <a:cs typeface="Arial" panose="020B0604020202020204" pitchFamily="34" charset="0"/>
              </a:rPr>
              <a:t>Acts as a back up for the platform’s code.</a:t>
            </a:r>
            <a:endParaRPr lang="en-ZA" b="1"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518E4E1-ABE5-1BC2-31DA-4BEC305C7180}"/>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Technologies Used</a:t>
            </a:r>
            <a:endParaRPr lang="en-ZA" dirty="0">
              <a:solidFill>
                <a:schemeClr val="bg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57B398D5-CC42-63F9-41CC-6C406AB34753}"/>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477199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70C2ECA9-5575-E8D0-AE91-964495B43769}"/>
              </a:ext>
            </a:extLst>
          </p:cNvPr>
          <p:cNvGraphicFramePr/>
          <p:nvPr>
            <p:extLst>
              <p:ext uri="{D42A27DB-BD31-4B8C-83A1-F6EECF244321}">
                <p14:modId xmlns:p14="http://schemas.microsoft.com/office/powerpoint/2010/main" val="3181315451"/>
              </p:ext>
            </p:extLst>
          </p:nvPr>
        </p:nvGraphicFramePr>
        <p:xfrm>
          <a:off x="1548108" y="-766881"/>
          <a:ext cx="909578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E25A108B-5A56-62C8-0C54-16F94D544245}"/>
              </a:ext>
            </a:extLst>
          </p:cNvPr>
          <p:cNvSpPr txBox="1"/>
          <p:nvPr/>
        </p:nvSpPr>
        <p:spPr>
          <a:xfrm>
            <a:off x="1867843" y="2588810"/>
            <a:ext cx="8456315" cy="4125952"/>
          </a:xfrm>
          <a:prstGeom prst="roundRect">
            <a:avLst/>
          </a:prstGeom>
          <a:solidFill>
            <a:schemeClr val="bg1"/>
          </a:solidFill>
          <a:effectLst>
            <a:outerShdw blurRad="50800" dist="38100" dir="2700000" algn="tl" rotWithShape="0">
              <a:prstClr val="black">
                <a:alpha val="40000"/>
              </a:prstClr>
            </a:outerShdw>
          </a:effectLst>
        </p:spPr>
        <p:txBody>
          <a:bodyPr wrap="square" anchor="ctr">
            <a:spAutoFit/>
          </a:bodyPr>
          <a:lstStyle/>
          <a:p>
            <a:pPr marL="342900" indent="-342900">
              <a:spcBef>
                <a:spcPts val="2000"/>
              </a:spcBef>
              <a:buFont typeface="+mj-lt"/>
              <a:buAutoNum type="arabicPeriod"/>
            </a:pPr>
            <a:r>
              <a:rPr lang="en-US" sz="1700" dirty="0">
                <a:latin typeface="Arial" panose="020B0604020202020204" pitchFamily="34" charset="0"/>
                <a:cs typeface="Arial" panose="020B0604020202020204" pitchFamily="34" charset="0"/>
              </a:rPr>
              <a:t>The user uses a browser to access the platform.</a:t>
            </a:r>
          </a:p>
          <a:p>
            <a:pPr marL="342900" indent="-342900">
              <a:spcBef>
                <a:spcPts val="2000"/>
              </a:spcBef>
              <a:buFont typeface="+mj-lt"/>
              <a:buAutoNum type="arabicPeriod"/>
            </a:pPr>
            <a:r>
              <a:rPr lang="en-US" sz="1700" dirty="0">
                <a:latin typeface="Arial" panose="020B0604020202020204" pitchFamily="34" charset="0"/>
                <a:cs typeface="Arial" panose="020B0604020202020204" pitchFamily="34" charset="0"/>
              </a:rPr>
              <a:t>The PHP file defines the dynamic content of a web page after collecting data from the MySQL database.</a:t>
            </a:r>
          </a:p>
          <a:p>
            <a:pPr marL="342900" indent="-342900">
              <a:spcBef>
                <a:spcPts val="2000"/>
              </a:spcBef>
              <a:buFont typeface="+mj-lt"/>
              <a:buAutoNum type="arabicPeriod"/>
            </a:pPr>
            <a:r>
              <a:rPr lang="en-ZA" sz="1700" dirty="0">
                <a:latin typeface="Arial" panose="020B0604020202020204" pitchFamily="34" charset="0"/>
                <a:cs typeface="Arial" panose="020B0604020202020204" pitchFamily="34" charset="0"/>
              </a:rPr>
              <a:t>Relevant data from the MySQL database is retrieved.</a:t>
            </a:r>
          </a:p>
          <a:p>
            <a:pPr marL="342900" indent="-342900">
              <a:spcBef>
                <a:spcPts val="2000"/>
              </a:spcBef>
              <a:buFont typeface="+mj-lt"/>
              <a:buAutoNum type="arabicPeriod"/>
            </a:pPr>
            <a:r>
              <a:rPr lang="en-ZA" sz="1700" dirty="0">
                <a:latin typeface="Arial" panose="020B0604020202020204" pitchFamily="34" charset="0"/>
                <a:cs typeface="Arial" panose="020B0604020202020204" pitchFamily="34" charset="0"/>
              </a:rPr>
              <a:t>The HTML elements are defined after all dynamic content is received. Any CSS and JavaScript elements are established for the web page.</a:t>
            </a:r>
          </a:p>
          <a:p>
            <a:pPr marL="342900" indent="-342900">
              <a:spcBef>
                <a:spcPts val="2000"/>
              </a:spcBef>
              <a:buFont typeface="+mj-lt"/>
              <a:buAutoNum type="arabicPeriod"/>
            </a:pPr>
            <a:r>
              <a:rPr lang="en-ZA" sz="1700" dirty="0">
                <a:latin typeface="Arial" panose="020B0604020202020204" pitchFamily="34" charset="0"/>
                <a:cs typeface="Arial" panose="020B0604020202020204" pitchFamily="34" charset="0"/>
              </a:rPr>
              <a:t>Any back-end processing (collecting data, validating inputs, etc) is performed.</a:t>
            </a:r>
          </a:p>
          <a:p>
            <a:pPr marL="342900" indent="-342900">
              <a:spcBef>
                <a:spcPts val="2000"/>
              </a:spcBef>
              <a:buFont typeface="+mj-lt"/>
              <a:buAutoNum type="arabicPeriod"/>
            </a:pPr>
            <a:r>
              <a:rPr lang="en-ZA" sz="1700" dirty="0">
                <a:latin typeface="Arial" panose="020B0604020202020204" pitchFamily="34" charset="0"/>
                <a:cs typeface="Arial" panose="020B0604020202020204" pitchFamily="34" charset="0"/>
              </a:rPr>
              <a:t>Any data associated with the database tables (buyer, vendor, listings, etc) are stored.</a:t>
            </a:r>
          </a:p>
        </p:txBody>
      </p:sp>
      <p:sp>
        <p:nvSpPr>
          <p:cNvPr id="7" name="Title 1">
            <a:extLst>
              <a:ext uri="{FF2B5EF4-FFF2-40B4-BE49-F238E27FC236}">
                <a16:creationId xmlns:a16="http://schemas.microsoft.com/office/drawing/2014/main" id="{C48F21BE-02C1-705E-4FC4-39CFD8D7FB7D}"/>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System Architecture</a:t>
            </a:r>
            <a:endParaRPr lang="en-ZA" dirty="0">
              <a:solidFill>
                <a:schemeClr val="bg1"/>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0236C7DD-2D4D-11A9-3313-F2E643CE0AD6}"/>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564924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3AF42B-DD6A-5095-2DE8-1D9A3CF4838F}"/>
              </a:ext>
            </a:extLst>
          </p:cNvPr>
          <p:cNvSpPr>
            <a:spLocks noGrp="1"/>
          </p:cNvSpPr>
          <p:nvPr>
            <p:ph sz="half" idx="1"/>
          </p:nvPr>
        </p:nvSpPr>
        <p:spPr>
          <a:xfrm>
            <a:off x="688978" y="1735811"/>
            <a:ext cx="5407022" cy="4711485"/>
          </a:xfrm>
          <a:prstGeom prst="roundRect">
            <a:avLst/>
          </a:prstGeom>
          <a:solidFill>
            <a:schemeClr val="bg1"/>
          </a:solidFill>
          <a:effectLst>
            <a:outerShdw blurRad="50800" dist="38100" dir="2700000" algn="tl" rotWithShape="0">
              <a:prstClr val="black">
                <a:alpha val="40000"/>
              </a:prstClr>
            </a:outerShdw>
          </a:effectLst>
        </p:spPr>
        <p:txBody>
          <a:bodyPr anchor="t">
            <a:normAutofit fontScale="92500" lnSpcReduction="20000"/>
          </a:bodyPr>
          <a:lstStyle/>
          <a:p>
            <a:pPr marL="0" indent="0" algn="ctr">
              <a:spcBef>
                <a:spcPts val="2000"/>
              </a:spcBef>
              <a:buNone/>
            </a:pPr>
            <a:r>
              <a:rPr lang="en-US" sz="2400" b="1" dirty="0">
                <a:latin typeface="Arial" panose="020B0604020202020204" pitchFamily="34" charset="0"/>
                <a:cs typeface="Arial" panose="020B0604020202020204" pitchFamily="34" charset="0"/>
              </a:rPr>
              <a:t>SDLC Process</a:t>
            </a:r>
          </a:p>
          <a:p>
            <a:pPr>
              <a:spcBef>
                <a:spcPts val="2000"/>
              </a:spcBef>
            </a:pPr>
            <a:r>
              <a:rPr lang="en-US" sz="2000" b="1" dirty="0">
                <a:latin typeface="Arial" panose="020B0604020202020204" pitchFamily="34" charset="0"/>
                <a:cs typeface="Arial" panose="020B0604020202020204" pitchFamily="34" charset="0"/>
              </a:rPr>
              <a:t>Requirement analysis – </a:t>
            </a:r>
            <a:r>
              <a:rPr lang="en-US" sz="2000" dirty="0">
                <a:latin typeface="Arial" panose="020B0604020202020204" pitchFamily="34" charset="0"/>
                <a:cs typeface="Arial" panose="020B0604020202020204" pitchFamily="34" charset="0"/>
              </a:rPr>
              <a:t>The scenario was </a:t>
            </a:r>
            <a:r>
              <a:rPr lang="en-US" sz="2000" dirty="0" err="1">
                <a:latin typeface="Arial" panose="020B0604020202020204" pitchFamily="34" charset="0"/>
                <a:cs typeface="Arial" panose="020B0604020202020204" pitchFamily="34" charset="0"/>
              </a:rPr>
              <a:t>analysed</a:t>
            </a:r>
            <a:r>
              <a:rPr lang="en-US" sz="2000" dirty="0">
                <a:latin typeface="Arial" panose="020B0604020202020204" pitchFamily="34" charset="0"/>
                <a:cs typeface="Arial" panose="020B0604020202020204" pitchFamily="34" charset="0"/>
              </a:rPr>
              <a:t> to determine the functional and non-functional requirements.</a:t>
            </a:r>
          </a:p>
          <a:p>
            <a:pPr>
              <a:spcBef>
                <a:spcPts val="2000"/>
              </a:spcBef>
            </a:pPr>
            <a:r>
              <a:rPr lang="en-US" sz="2000" b="1" dirty="0">
                <a:latin typeface="Arial" panose="020B0604020202020204" pitchFamily="34" charset="0"/>
                <a:cs typeface="Arial" panose="020B0604020202020204" pitchFamily="34" charset="0"/>
              </a:rPr>
              <a:t>Design – </a:t>
            </a:r>
            <a:r>
              <a:rPr lang="en-US" sz="2000" dirty="0">
                <a:latin typeface="Arial" panose="020B0604020202020204" pitchFamily="34" charset="0"/>
                <a:cs typeface="Arial" panose="020B0604020202020204" pitchFamily="34" charset="0"/>
              </a:rPr>
              <a:t>Dynamic CSS elements are considered to ensure that the platform can scale efficiently and accommodate different screen sizes.</a:t>
            </a:r>
          </a:p>
          <a:p>
            <a:pPr>
              <a:spcBef>
                <a:spcPts val="2000"/>
              </a:spcBef>
            </a:pPr>
            <a:r>
              <a:rPr lang="en-US" sz="2000" b="1" dirty="0">
                <a:latin typeface="Arial" panose="020B0604020202020204" pitchFamily="34" charset="0"/>
                <a:cs typeface="Arial" panose="020B0604020202020204" pitchFamily="34" charset="0"/>
              </a:rPr>
              <a:t>Implementation – </a:t>
            </a:r>
            <a:r>
              <a:rPr lang="en-US" sz="2000" dirty="0">
                <a:latin typeface="Arial" panose="020B0604020202020204" pitchFamily="34" charset="0"/>
                <a:cs typeface="Arial" panose="020B0604020202020204" pitchFamily="34" charset="0"/>
              </a:rPr>
              <a:t>VS Code was identified and used to code the functional and non-functional requirements.</a:t>
            </a:r>
            <a:endParaRPr lang="en-ZA" sz="2000" b="1" dirty="0">
              <a:latin typeface="Arial" panose="020B0604020202020204" pitchFamily="34" charset="0"/>
              <a:cs typeface="Arial" panose="020B0604020202020204" pitchFamily="34" charset="0"/>
            </a:endParaRPr>
          </a:p>
          <a:p>
            <a:pPr>
              <a:spcBef>
                <a:spcPts val="2000"/>
              </a:spcBef>
            </a:pPr>
            <a:r>
              <a:rPr lang="en-US" sz="2000" b="1" dirty="0">
                <a:latin typeface="Arial" panose="020B0604020202020204" pitchFamily="34" charset="0"/>
                <a:cs typeface="Arial" panose="020B0604020202020204" pitchFamily="34" charset="0"/>
              </a:rPr>
              <a:t>Testing and debugging – </a:t>
            </a:r>
            <a:r>
              <a:rPr lang="en-US" sz="2000" dirty="0">
                <a:latin typeface="Arial" panose="020B0604020202020204" pitchFamily="34" charset="0"/>
                <a:cs typeface="Arial" panose="020B0604020202020204" pitchFamily="34" charset="0"/>
              </a:rPr>
              <a:t>Placeholder data was used to test the functionality of the platform and any identified issues were debugged.</a:t>
            </a:r>
          </a:p>
        </p:txBody>
      </p:sp>
      <p:sp>
        <p:nvSpPr>
          <p:cNvPr id="4" name="Content Placeholder 3">
            <a:extLst>
              <a:ext uri="{FF2B5EF4-FFF2-40B4-BE49-F238E27FC236}">
                <a16:creationId xmlns:a16="http://schemas.microsoft.com/office/drawing/2014/main" id="{ED885330-FAD0-BE6F-E505-BFDE78E3A627}"/>
              </a:ext>
            </a:extLst>
          </p:cNvPr>
          <p:cNvSpPr>
            <a:spLocks noGrp="1"/>
          </p:cNvSpPr>
          <p:nvPr>
            <p:ph sz="half" idx="2"/>
          </p:nvPr>
        </p:nvSpPr>
        <p:spPr>
          <a:xfrm>
            <a:off x="6478293" y="1735811"/>
            <a:ext cx="5024730" cy="4711485"/>
          </a:xfrm>
          <a:prstGeom prst="roundRect">
            <a:avLst/>
          </a:prstGeom>
          <a:solidFill>
            <a:schemeClr val="bg1"/>
          </a:solidFill>
          <a:effectLst>
            <a:outerShdw blurRad="50800" dist="38100" dir="2700000" algn="tl" rotWithShape="0">
              <a:prstClr val="black">
                <a:alpha val="40000"/>
              </a:prstClr>
            </a:outerShdw>
          </a:effectLst>
        </p:spPr>
        <p:txBody>
          <a:bodyPr anchor="t">
            <a:normAutofit fontScale="92500" lnSpcReduction="20000"/>
          </a:bodyPr>
          <a:lstStyle/>
          <a:p>
            <a:pPr marL="0" indent="0" algn="ctr">
              <a:buNone/>
            </a:pPr>
            <a:r>
              <a:rPr lang="en-US" sz="2400" b="1" dirty="0">
                <a:latin typeface="Arial" panose="020B0604020202020204" pitchFamily="34" charset="0"/>
                <a:cs typeface="Arial" panose="020B0604020202020204" pitchFamily="34" charset="0"/>
              </a:rPr>
              <a:t>Challenges and solutions</a:t>
            </a:r>
          </a:p>
          <a:p>
            <a:r>
              <a:rPr lang="en-ZA" sz="2100" dirty="0" err="1">
                <a:latin typeface="Arial" panose="020B0604020202020204" pitchFamily="34" charset="0"/>
                <a:cs typeface="Arial" panose="020B0604020202020204" pitchFamily="34" charset="0"/>
              </a:rPr>
              <a:t>FlexBox</a:t>
            </a:r>
            <a:r>
              <a:rPr lang="en-ZA" sz="2100" dirty="0">
                <a:latin typeface="Arial" panose="020B0604020202020204" pitchFamily="34" charset="0"/>
                <a:cs typeface="Arial" panose="020B0604020202020204" pitchFamily="34" charset="0"/>
              </a:rPr>
              <a:t> and Grid elements on CSS was used to solve the scalable UI issue.</a:t>
            </a:r>
          </a:p>
          <a:p>
            <a:r>
              <a:rPr lang="en-ZA" sz="2100" dirty="0">
                <a:latin typeface="Arial" panose="020B0604020202020204" pitchFamily="34" charset="0"/>
                <a:cs typeface="Arial" panose="020B0604020202020204" pitchFamily="34" charset="0"/>
              </a:rPr>
              <a:t>Different screen sizes were accommodated by changing CSS elements based on the screen size.</a:t>
            </a:r>
          </a:p>
          <a:p>
            <a:r>
              <a:rPr lang="en-ZA" sz="2100" dirty="0">
                <a:latin typeface="Arial" panose="020B0604020202020204" pitchFamily="34" charset="0"/>
                <a:cs typeface="Arial" panose="020B0604020202020204" pitchFamily="34" charset="0"/>
              </a:rPr>
              <a:t>The reliability of the platform’s error detection code was a concern and was tested by inputting incomplete and incorrect data.</a:t>
            </a:r>
          </a:p>
        </p:txBody>
      </p:sp>
      <p:sp>
        <p:nvSpPr>
          <p:cNvPr id="7" name="Title 1">
            <a:extLst>
              <a:ext uri="{FF2B5EF4-FFF2-40B4-BE49-F238E27FC236}">
                <a16:creationId xmlns:a16="http://schemas.microsoft.com/office/drawing/2014/main" id="{02E7BA4E-D857-FC2F-B671-2FF9D5890D99}"/>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Development Process (SDLC-based)</a:t>
            </a:r>
            <a:endParaRPr lang="en-ZA" dirty="0">
              <a:solidFill>
                <a:schemeClr val="bg1"/>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E448207A-BB5D-DD98-E7BA-B7DEC01C4838}"/>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18075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727AEFD-6197-B969-0A3B-AB133325B55D}"/>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Key Features Demo</a:t>
            </a:r>
            <a:endParaRPr lang="en-ZA" dirty="0">
              <a:solidFill>
                <a:schemeClr val="bg1"/>
              </a:solidFill>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1AC7704C-E112-0B08-2597-8A2A3F198DD2}"/>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078468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58213-C3E7-3561-4AD3-B33DDD584890}"/>
              </a:ext>
            </a:extLst>
          </p:cNvPr>
          <p:cNvSpPr>
            <a:spLocks noGrp="1"/>
          </p:cNvSpPr>
          <p:nvPr>
            <p:ph sz="half" idx="1"/>
          </p:nvPr>
        </p:nvSpPr>
        <p:spPr>
          <a:xfrm>
            <a:off x="487498" y="1596325"/>
            <a:ext cx="5407024" cy="2386739"/>
          </a:xfrm>
          <a:prstGeom prst="roundRect">
            <a:avLst/>
          </a:prstGeom>
          <a:solidFill>
            <a:schemeClr val="bg1"/>
          </a:solidFill>
          <a:ln>
            <a:noFill/>
          </a:ln>
          <a:effectLst>
            <a:outerShdw blurRad="50800" dist="38100" dir="2700000" algn="tl" rotWithShape="0">
              <a:prstClr val="black">
                <a:alpha val="40000"/>
              </a:prstClr>
            </a:outerShdw>
          </a:effectLst>
        </p:spPr>
        <p:txBody>
          <a:bodyPr anchor="t">
            <a:normAutofit fontScale="85000" lnSpcReduction="10000"/>
          </a:bodyPr>
          <a:lstStyle/>
          <a:p>
            <a:pPr marL="0" indent="0" algn="ctr">
              <a:buNone/>
            </a:pPr>
            <a:r>
              <a:rPr lang="en-US" sz="2400" b="1" dirty="0">
                <a:latin typeface="Arial" panose="020B0604020202020204" pitchFamily="34" charset="0"/>
                <a:cs typeface="Arial" panose="020B0604020202020204" pitchFamily="34" charset="0"/>
              </a:rPr>
              <a:t>Testing</a:t>
            </a:r>
          </a:p>
          <a:p>
            <a:r>
              <a:rPr lang="en-US" sz="2000" dirty="0">
                <a:latin typeface="Arial" panose="020B0604020202020204" pitchFamily="34" charset="0"/>
                <a:cs typeface="Arial" panose="020B0604020202020204" pitchFamily="34" charset="0"/>
              </a:rPr>
              <a:t>All web pages that involve user input were tested with incorrect data to ensure that the platform could identify it.</a:t>
            </a:r>
          </a:p>
          <a:p>
            <a:r>
              <a:rPr lang="en-US" sz="2000" dirty="0">
                <a:latin typeface="Arial" panose="020B0604020202020204" pitchFamily="34" charset="0"/>
                <a:cs typeface="Arial" panose="020B0604020202020204" pitchFamily="34" charset="0"/>
              </a:rPr>
              <a:t>All web pages with a MySQL database connection were tested with incorrect SQL statements to determine if the platform could identify it and rollback all database changes.</a:t>
            </a:r>
          </a:p>
        </p:txBody>
      </p:sp>
      <p:sp>
        <p:nvSpPr>
          <p:cNvPr id="4" name="Content Placeholder 3">
            <a:extLst>
              <a:ext uri="{FF2B5EF4-FFF2-40B4-BE49-F238E27FC236}">
                <a16:creationId xmlns:a16="http://schemas.microsoft.com/office/drawing/2014/main" id="{7AEBD75F-5455-C279-9A21-30269B6E7F3C}"/>
              </a:ext>
            </a:extLst>
          </p:cNvPr>
          <p:cNvSpPr>
            <a:spLocks noGrp="1"/>
          </p:cNvSpPr>
          <p:nvPr>
            <p:ph sz="half" idx="2"/>
          </p:nvPr>
        </p:nvSpPr>
        <p:spPr>
          <a:xfrm>
            <a:off x="6299937" y="1596325"/>
            <a:ext cx="5391523" cy="2386739"/>
          </a:xfrm>
          <a:prstGeom prst="roundRect">
            <a:avLst/>
          </a:prstGeom>
          <a:solidFill>
            <a:schemeClr val="bg1"/>
          </a:solidFill>
          <a:ln>
            <a:noFill/>
          </a:ln>
          <a:effectLst>
            <a:outerShdw blurRad="50800" dist="38100" dir="2700000" algn="tl" rotWithShape="0">
              <a:prstClr val="black">
                <a:alpha val="40000"/>
              </a:prstClr>
            </a:outerShdw>
          </a:effectLst>
        </p:spPr>
        <p:txBody>
          <a:bodyPr anchor="t">
            <a:normAutofit fontScale="85000" lnSpcReduction="10000"/>
          </a:bodyPr>
          <a:lstStyle/>
          <a:p>
            <a:pPr marL="0" indent="0" algn="ctr">
              <a:buNone/>
            </a:pPr>
            <a:r>
              <a:rPr lang="en-US" sz="2400" b="1" dirty="0">
                <a:latin typeface="Arial" panose="020B0604020202020204" pitchFamily="34" charset="0"/>
                <a:cs typeface="Arial" panose="020B0604020202020204" pitchFamily="34" charset="0"/>
              </a:rPr>
              <a:t>Issues Identified</a:t>
            </a:r>
          </a:p>
          <a:p>
            <a:r>
              <a:rPr lang="en-US" sz="2000" dirty="0">
                <a:latin typeface="Arial" panose="020B0604020202020204" pitchFamily="34" charset="0"/>
                <a:cs typeface="Arial" panose="020B0604020202020204" pitchFamily="34" charset="0"/>
              </a:rPr>
              <a:t>Unclear error messages due to input validation.</a:t>
            </a:r>
          </a:p>
          <a:p>
            <a:r>
              <a:rPr lang="en-US" sz="2000" dirty="0">
                <a:latin typeface="Arial" panose="020B0604020202020204" pitchFamily="34" charset="0"/>
                <a:cs typeface="Arial" panose="020B0604020202020204" pitchFamily="34" charset="0"/>
              </a:rPr>
              <a:t>Pressing the back button to access a web page that shouldn’t be available after logging out of an account.</a:t>
            </a:r>
          </a:p>
        </p:txBody>
      </p:sp>
      <p:sp>
        <p:nvSpPr>
          <p:cNvPr id="7" name="Title 1">
            <a:extLst>
              <a:ext uri="{FF2B5EF4-FFF2-40B4-BE49-F238E27FC236}">
                <a16:creationId xmlns:a16="http://schemas.microsoft.com/office/drawing/2014/main" id="{409F98AC-CF1D-E41A-3FAA-FE0E0853E432}"/>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Testing and Security</a:t>
            </a:r>
            <a:endParaRPr lang="en-ZA" dirty="0">
              <a:solidFill>
                <a:schemeClr val="bg1"/>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E4ABB913-6064-B309-ED2A-9833A5714C39}"/>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43EA0692-8732-EB20-909C-9A670E1943F6}"/>
              </a:ext>
            </a:extLst>
          </p:cNvPr>
          <p:cNvSpPr txBox="1">
            <a:spLocks/>
          </p:cNvSpPr>
          <p:nvPr/>
        </p:nvSpPr>
        <p:spPr>
          <a:xfrm>
            <a:off x="487498" y="4246534"/>
            <a:ext cx="5407024" cy="2386738"/>
          </a:xfrm>
          <a:prstGeom prst="roundRect">
            <a:avLst/>
          </a:prstGeom>
          <a:solidFill>
            <a:schemeClr val="bg1"/>
          </a:solidFill>
          <a:ln>
            <a:noFill/>
          </a:ln>
          <a:effectLst>
            <a:outerShdw blurRad="50800" dist="38100" dir="2700000" algn="tl" rotWithShape="0">
              <a:prstClr val="black">
                <a:alpha val="40000"/>
              </a:prstClr>
            </a:outerShdw>
          </a:effectLst>
        </p:spPr>
        <p:txBody>
          <a:bodyPr vert="horz" lIns="91440" tIns="45720" rIns="91440" bIns="45720" rtlCol="0" anchor="t">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5000" b="1" dirty="0">
                <a:latin typeface="Arial" panose="020B0604020202020204" pitchFamily="34" charset="0"/>
                <a:cs typeface="Arial" panose="020B0604020202020204" pitchFamily="34" charset="0"/>
              </a:rPr>
              <a:t>Security</a:t>
            </a:r>
          </a:p>
          <a:p>
            <a:r>
              <a:rPr lang="en-US" sz="3600" dirty="0">
                <a:latin typeface="Arial" panose="020B0604020202020204" pitchFamily="34" charset="0"/>
                <a:cs typeface="Arial" panose="020B0604020202020204" pitchFamily="34" charset="0"/>
              </a:rPr>
              <a:t>Input validation to prevent cross-site scripting attacks.</a:t>
            </a:r>
          </a:p>
          <a:p>
            <a:r>
              <a:rPr lang="en-US" sz="3600" dirty="0">
                <a:latin typeface="Arial" panose="020B0604020202020204" pitchFamily="34" charset="0"/>
                <a:cs typeface="Arial" panose="020B0604020202020204" pitchFamily="34" charset="0"/>
              </a:rPr>
              <a:t>Sessions are used after the user logs in.</a:t>
            </a:r>
          </a:p>
          <a:p>
            <a:r>
              <a:rPr lang="en-US" sz="3600" dirty="0">
                <a:latin typeface="Arial" panose="020B0604020202020204" pitchFamily="34" charset="0"/>
                <a:cs typeface="Arial" panose="020B0604020202020204" pitchFamily="34" charset="0"/>
              </a:rPr>
              <a:t>Passwords are hashed.</a:t>
            </a:r>
          </a:p>
          <a:p>
            <a:r>
              <a:rPr lang="en-US" sz="3600" dirty="0">
                <a:latin typeface="Arial" panose="020B0604020202020204" pitchFamily="34" charset="0"/>
                <a:cs typeface="Arial" panose="020B0604020202020204" pitchFamily="34" charset="0"/>
              </a:rPr>
              <a:t>Database rollbacks are performed to prevent incomplete data changes from being stored in the database.</a:t>
            </a:r>
            <a:endParaRPr lang="en-ZA" sz="3600" dirty="0"/>
          </a:p>
        </p:txBody>
      </p:sp>
      <p:sp>
        <p:nvSpPr>
          <p:cNvPr id="11" name="Content Placeholder 3">
            <a:extLst>
              <a:ext uri="{FF2B5EF4-FFF2-40B4-BE49-F238E27FC236}">
                <a16:creationId xmlns:a16="http://schemas.microsoft.com/office/drawing/2014/main" id="{3E78B78D-4E46-FA47-46B0-C6CB0FE0E10B}"/>
              </a:ext>
            </a:extLst>
          </p:cNvPr>
          <p:cNvSpPr txBox="1">
            <a:spLocks/>
          </p:cNvSpPr>
          <p:nvPr/>
        </p:nvSpPr>
        <p:spPr>
          <a:xfrm>
            <a:off x="6299938" y="4246534"/>
            <a:ext cx="5391524" cy="2386738"/>
          </a:xfrm>
          <a:prstGeom prst="roundRect">
            <a:avLst/>
          </a:prstGeom>
          <a:solidFill>
            <a:schemeClr val="bg1"/>
          </a:solidFill>
          <a:ln>
            <a:noFill/>
          </a:ln>
          <a:effectLst>
            <a:outerShdw blurRad="50800" dist="38100" dir="2700000" algn="tl" rotWithShape="0">
              <a:prstClr val="black">
                <a:alpha val="40000"/>
              </a:prstClr>
            </a:outerShdw>
          </a:effectLst>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latin typeface="Arial" panose="020B0604020202020204" pitchFamily="34" charset="0"/>
                <a:cs typeface="Arial" panose="020B0604020202020204" pitchFamily="34" charset="0"/>
              </a:rPr>
              <a:t>Solutions</a:t>
            </a:r>
          </a:p>
          <a:p>
            <a:r>
              <a:rPr lang="en-US" sz="1700" dirty="0">
                <a:latin typeface="Arial" panose="020B0604020202020204" pitchFamily="34" charset="0"/>
                <a:cs typeface="Arial" panose="020B0604020202020204" pitchFamily="34" charset="0"/>
              </a:rPr>
              <a:t>Specific error messages.</a:t>
            </a:r>
          </a:p>
          <a:p>
            <a:r>
              <a:rPr lang="en-US" sz="1700" dirty="0">
                <a:latin typeface="Arial" panose="020B0604020202020204" pitchFamily="34" charset="0"/>
                <a:cs typeface="Arial" panose="020B0604020202020204" pitchFamily="34" charset="0"/>
              </a:rPr>
              <a:t>Redirect to the main page if not logged into an account.</a:t>
            </a:r>
          </a:p>
        </p:txBody>
      </p:sp>
    </p:spTree>
    <p:extLst>
      <p:ext uri="{BB962C8B-B14F-4D97-AF65-F5344CB8AC3E}">
        <p14:creationId xmlns:p14="http://schemas.microsoft.com/office/powerpoint/2010/main" val="254738544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A2A232E-FD5A-A06F-7097-CF375BB18D6B}"/>
              </a:ext>
            </a:extLst>
          </p:cNvPr>
          <p:cNvSpPr/>
          <p:nvPr/>
        </p:nvSpPr>
        <p:spPr>
          <a:xfrm>
            <a:off x="6921344" y="2452920"/>
            <a:ext cx="5182585" cy="3672109"/>
          </a:xfrm>
          <a:prstGeom prst="rect">
            <a:avLst/>
          </a:prstGeom>
          <a:solidFill>
            <a:schemeClr val="bg1"/>
          </a:solidFill>
          <a:ln w="28575">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Content Placeholder 2">
            <a:extLst>
              <a:ext uri="{FF2B5EF4-FFF2-40B4-BE49-F238E27FC236}">
                <a16:creationId xmlns:a16="http://schemas.microsoft.com/office/drawing/2014/main" id="{EB5AC29E-ED93-8204-D3F6-F5E37FB21DD1}"/>
              </a:ext>
            </a:extLst>
          </p:cNvPr>
          <p:cNvSpPr>
            <a:spLocks noGrp="1"/>
          </p:cNvSpPr>
          <p:nvPr>
            <p:ph idx="1"/>
          </p:nvPr>
        </p:nvSpPr>
        <p:spPr>
          <a:xfrm>
            <a:off x="109780" y="1975092"/>
            <a:ext cx="6668392" cy="4585351"/>
          </a:xfrm>
          <a:prstGeom prst="roundRect">
            <a:avLst/>
          </a:prstGeom>
          <a:solidFill>
            <a:schemeClr val="bg1"/>
          </a:solidFill>
          <a:effectLst>
            <a:outerShdw blurRad="50800" dist="38100" dir="2700000" algn="tl" rotWithShape="0">
              <a:prstClr val="black">
                <a:alpha val="40000"/>
              </a:prstClr>
            </a:outerShdw>
          </a:effectLst>
        </p:spPr>
        <p:txBody>
          <a:bodyPr anchor="ctr">
            <a:normAutofit fontScale="92500" lnSpcReduction="10000"/>
          </a:bodyPr>
          <a:lstStyle/>
          <a:p>
            <a:pPr>
              <a:spcBef>
                <a:spcPts val="2000"/>
              </a:spcBef>
            </a:pPr>
            <a:r>
              <a:rPr lang="en-US" dirty="0">
                <a:latin typeface="Arial" panose="020B0604020202020204" pitchFamily="34" charset="0"/>
                <a:cs typeface="Arial" panose="020B0604020202020204" pitchFamily="34" charset="0"/>
              </a:rPr>
              <a:t>JavaScript was </a:t>
            </a:r>
            <a:r>
              <a:rPr lang="en-US" dirty="0" err="1">
                <a:latin typeface="Arial" panose="020B0604020202020204" pitchFamily="34" charset="0"/>
                <a:cs typeface="Arial" panose="020B0604020202020204" pitchFamily="34" charset="0"/>
              </a:rPr>
              <a:t>utilised</a:t>
            </a:r>
            <a:r>
              <a:rPr lang="en-US" dirty="0">
                <a:latin typeface="Arial" panose="020B0604020202020204" pitchFamily="34" charset="0"/>
                <a:cs typeface="Arial" panose="020B0604020202020204" pitchFamily="34" charset="0"/>
              </a:rPr>
              <a:t> to provide appropriate messages under input fields if data was missing or incorrect.</a:t>
            </a:r>
          </a:p>
          <a:p>
            <a:pPr>
              <a:spcBef>
                <a:spcPts val="2000"/>
              </a:spcBef>
            </a:pPr>
            <a:r>
              <a:rPr lang="en-US" dirty="0">
                <a:latin typeface="Arial" panose="020B0604020202020204" pitchFamily="34" charset="0"/>
                <a:cs typeface="Arial" panose="020B0604020202020204" pitchFamily="34" charset="0"/>
              </a:rPr>
              <a:t>Listings are </a:t>
            </a:r>
            <a:r>
              <a:rPr lang="en-US" dirty="0" err="1">
                <a:latin typeface="Arial" panose="020B0604020202020204" pitchFamily="34" charset="0"/>
                <a:cs typeface="Arial" panose="020B0604020202020204" pitchFamily="34" charset="0"/>
              </a:rPr>
              <a:t>organised</a:t>
            </a:r>
            <a:r>
              <a:rPr lang="en-US" dirty="0">
                <a:latin typeface="Arial" panose="020B0604020202020204" pitchFamily="34" charset="0"/>
                <a:cs typeface="Arial" panose="020B0604020202020204" pitchFamily="34" charset="0"/>
              </a:rPr>
              <a:t> in a grid layout where the length of the layout changes depending on the screen size.</a:t>
            </a:r>
          </a:p>
          <a:p>
            <a:pPr>
              <a:spcBef>
                <a:spcPts val="2000"/>
              </a:spcBef>
            </a:pPr>
            <a:r>
              <a:rPr lang="en-US" dirty="0">
                <a:latin typeface="Arial" panose="020B0604020202020204" pitchFamily="34" charset="0"/>
                <a:cs typeface="Arial" panose="020B0604020202020204" pitchFamily="34" charset="0"/>
              </a:rPr>
              <a:t>The size and layout of CSS elements are changed based on the screen size to ensure that information remains readable despite the screen size.</a:t>
            </a:r>
            <a:endParaRPr lang="en-ZA"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DECAC128-3085-0674-D685-CADB06D50AC1}"/>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User Friendliness and UI Design</a:t>
            </a:r>
            <a:endParaRPr lang="en-ZA" dirty="0">
              <a:solidFill>
                <a:schemeClr val="bg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2F35FA4B-E085-E386-1057-911786E696AE}"/>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A9A33DE8-8A23-5351-F907-E9919E403E94}"/>
              </a:ext>
            </a:extLst>
          </p:cNvPr>
          <p:cNvPicPr>
            <a:picLocks noChangeAspect="1"/>
          </p:cNvPicPr>
          <p:nvPr/>
        </p:nvPicPr>
        <p:blipFill>
          <a:blip r:embed="rId2"/>
          <a:stretch>
            <a:fillRect/>
          </a:stretch>
        </p:blipFill>
        <p:spPr>
          <a:xfrm>
            <a:off x="10389666" y="2647766"/>
            <a:ext cx="1601562" cy="3240000"/>
          </a:xfrm>
          <a:prstGeom prst="rect">
            <a:avLst/>
          </a:prstGeom>
          <a:ln w="28575">
            <a:solidFill>
              <a:schemeClr val="tx1"/>
            </a:solidFill>
          </a:ln>
        </p:spPr>
      </p:pic>
      <p:pic>
        <p:nvPicPr>
          <p:cNvPr id="5" name="Picture 4">
            <a:extLst>
              <a:ext uri="{FF2B5EF4-FFF2-40B4-BE49-F238E27FC236}">
                <a16:creationId xmlns:a16="http://schemas.microsoft.com/office/drawing/2014/main" id="{76EF1EA2-BA20-D10A-C772-6D7ED8499911}"/>
              </a:ext>
            </a:extLst>
          </p:cNvPr>
          <p:cNvPicPr>
            <a:picLocks noChangeAspect="1"/>
          </p:cNvPicPr>
          <p:nvPr/>
        </p:nvPicPr>
        <p:blipFill>
          <a:blip r:embed="rId3"/>
          <a:stretch>
            <a:fillRect/>
          </a:stretch>
        </p:blipFill>
        <p:spPr>
          <a:xfrm>
            <a:off x="7036966" y="4704265"/>
            <a:ext cx="3240000" cy="1183501"/>
          </a:xfrm>
          <a:prstGeom prst="rect">
            <a:avLst/>
          </a:prstGeom>
          <a:ln w="28575">
            <a:solidFill>
              <a:schemeClr val="tx1"/>
            </a:solidFill>
          </a:ln>
        </p:spPr>
      </p:pic>
      <p:sp>
        <p:nvSpPr>
          <p:cNvPr id="8" name="TextBox 7">
            <a:extLst>
              <a:ext uri="{FF2B5EF4-FFF2-40B4-BE49-F238E27FC236}">
                <a16:creationId xmlns:a16="http://schemas.microsoft.com/office/drawing/2014/main" id="{90A1A5F4-8CC6-616F-D519-EF689601DB5E}"/>
              </a:ext>
            </a:extLst>
          </p:cNvPr>
          <p:cNvSpPr txBox="1"/>
          <p:nvPr/>
        </p:nvSpPr>
        <p:spPr>
          <a:xfrm>
            <a:off x="7009415" y="2614708"/>
            <a:ext cx="190137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Mobile display:</a:t>
            </a:r>
            <a:endParaRPr lang="en-Z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256620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1C897-17B5-E06C-A80F-D706A03E73B1}"/>
              </a:ext>
            </a:extLst>
          </p:cNvPr>
          <p:cNvSpPr>
            <a:spLocks noGrp="1"/>
          </p:cNvSpPr>
          <p:nvPr>
            <p:ph idx="1"/>
          </p:nvPr>
        </p:nvSpPr>
        <p:spPr>
          <a:xfrm>
            <a:off x="1086644" y="1448632"/>
            <a:ext cx="10018713" cy="5323668"/>
          </a:xfrm>
          <a:prstGeom prst="roundRect">
            <a:avLst/>
          </a:prstGeom>
          <a:solidFill>
            <a:schemeClr val="bg1"/>
          </a:solidFill>
          <a:effectLst>
            <a:outerShdw blurRad="50800" dist="38100" dir="2700000" algn="tl" rotWithShape="0">
              <a:prstClr val="black">
                <a:alpha val="40000"/>
              </a:prstClr>
            </a:outerShdw>
          </a:effectLst>
        </p:spPr>
        <p:txBody>
          <a:bodyPr anchor="ctr">
            <a:normAutofit fontScale="55000" lnSpcReduction="20000"/>
          </a:bodyPr>
          <a:lstStyle/>
          <a:p>
            <a:pPr marL="0" indent="0" algn="ctr">
              <a:spcBef>
                <a:spcPts val="2000"/>
              </a:spcBef>
              <a:buNone/>
            </a:pPr>
            <a:r>
              <a:rPr lang="en-US" sz="3600" b="1" dirty="0">
                <a:latin typeface="Arial" panose="020B0604020202020204" pitchFamily="34" charset="0"/>
                <a:cs typeface="Arial" panose="020B0604020202020204" pitchFamily="34" charset="0"/>
              </a:rPr>
              <a:t>Improved skills</a:t>
            </a:r>
          </a:p>
          <a:p>
            <a:pPr>
              <a:spcBef>
                <a:spcPts val="2000"/>
              </a:spcBef>
            </a:pPr>
            <a:r>
              <a:rPr lang="en-US" sz="2900" dirty="0">
                <a:latin typeface="Arial" panose="020B0604020202020204" pitchFamily="34" charset="0"/>
                <a:cs typeface="Arial" panose="020B0604020202020204" pitchFamily="34" charset="0"/>
              </a:rPr>
              <a:t>Improved CSS skills with regards to layouts and accommodating different screen sizes.</a:t>
            </a:r>
          </a:p>
          <a:p>
            <a:pPr>
              <a:spcBef>
                <a:spcPts val="2000"/>
              </a:spcBef>
            </a:pPr>
            <a:r>
              <a:rPr lang="en-US" sz="2900" dirty="0">
                <a:latin typeface="Arial" panose="020B0604020202020204" pitchFamily="34" charset="0"/>
                <a:cs typeface="Arial" panose="020B0604020202020204" pitchFamily="34" charset="0"/>
              </a:rPr>
              <a:t>Improved data validation when processing data in PHP.</a:t>
            </a:r>
          </a:p>
          <a:p>
            <a:pPr>
              <a:spcBef>
                <a:spcPts val="2000"/>
              </a:spcBef>
            </a:pPr>
            <a:r>
              <a:rPr lang="en-US" sz="2900" dirty="0">
                <a:latin typeface="Arial" panose="020B0604020202020204" pitchFamily="34" charset="0"/>
                <a:cs typeface="Arial" panose="020B0604020202020204" pitchFamily="34" charset="0"/>
              </a:rPr>
              <a:t>Improved MySQL database error detection and remediation.</a:t>
            </a:r>
          </a:p>
          <a:p>
            <a:pPr marL="0" indent="0" algn="ctr">
              <a:spcBef>
                <a:spcPts val="2000"/>
              </a:spcBef>
              <a:buNone/>
            </a:pPr>
            <a:r>
              <a:rPr lang="en-US" sz="3600" b="1" dirty="0">
                <a:latin typeface="Arial" panose="020B0604020202020204" pitchFamily="34" charset="0"/>
                <a:cs typeface="Arial" panose="020B0604020202020204" pitchFamily="34" charset="0"/>
              </a:rPr>
              <a:t>Biggest challenge</a:t>
            </a:r>
          </a:p>
          <a:p>
            <a:pPr>
              <a:spcBef>
                <a:spcPts val="2000"/>
              </a:spcBef>
            </a:pPr>
            <a:r>
              <a:rPr lang="en-US" sz="2900" dirty="0">
                <a:latin typeface="Arial" panose="020B0604020202020204" pitchFamily="34" charset="0"/>
                <a:cs typeface="Arial" panose="020B0604020202020204" pitchFamily="34" charset="0"/>
              </a:rPr>
              <a:t>Determining how to revert all changes made to the MySQL database if an error occurs before all possible database changes are performed in the code.</a:t>
            </a:r>
          </a:p>
          <a:p>
            <a:pPr marL="0" indent="0" algn="ctr">
              <a:spcBef>
                <a:spcPts val="2000"/>
              </a:spcBef>
              <a:buNone/>
            </a:pPr>
            <a:r>
              <a:rPr lang="en-US" sz="3600" b="1" dirty="0">
                <a:latin typeface="Arial" panose="020B0604020202020204" pitchFamily="34" charset="0"/>
                <a:cs typeface="Arial" panose="020B0604020202020204" pitchFamily="34" charset="0"/>
              </a:rPr>
              <a:t>Solution</a:t>
            </a:r>
          </a:p>
          <a:p>
            <a:pPr>
              <a:spcBef>
                <a:spcPts val="2000"/>
              </a:spcBef>
            </a:pPr>
            <a:r>
              <a:rPr lang="en-US" sz="2900" dirty="0" err="1">
                <a:latin typeface="Arial" panose="020B0604020202020204" pitchFamily="34" charset="0"/>
                <a:cs typeface="Arial" panose="020B0604020202020204" pitchFamily="34" charset="0"/>
              </a:rPr>
              <a:t>Utilising</a:t>
            </a:r>
            <a:r>
              <a:rPr lang="en-US" sz="2900" dirty="0">
                <a:latin typeface="Arial" panose="020B0604020202020204" pitchFamily="34" charset="0"/>
                <a:cs typeface="Arial" panose="020B0604020202020204" pitchFamily="34" charset="0"/>
              </a:rPr>
              <a:t> a transaction and a try catch block where any errors that are detected will perform a rollback on all changes made to the database and if no errors are detected then all changes are committed.</a:t>
            </a:r>
          </a:p>
          <a:p>
            <a:pPr marL="0" indent="0" algn="ctr">
              <a:spcBef>
                <a:spcPts val="2000"/>
              </a:spcBef>
              <a:buNone/>
            </a:pPr>
            <a:r>
              <a:rPr lang="en-US" sz="3600" b="1" dirty="0">
                <a:latin typeface="Arial" panose="020B0604020202020204" pitchFamily="34" charset="0"/>
                <a:cs typeface="Arial" panose="020B0604020202020204" pitchFamily="34" charset="0"/>
              </a:rPr>
              <a:t>Overall lesson</a:t>
            </a:r>
          </a:p>
          <a:p>
            <a:pPr>
              <a:spcBef>
                <a:spcPts val="2000"/>
              </a:spcBef>
            </a:pPr>
            <a:r>
              <a:rPr lang="en-US" sz="2900" dirty="0">
                <a:latin typeface="Arial" panose="020B0604020202020204" pitchFamily="34" charset="0"/>
                <a:cs typeface="Arial" panose="020B0604020202020204" pitchFamily="34" charset="0"/>
              </a:rPr>
              <a:t>How each file type (HTML, PHP, CSS, JS) can be </a:t>
            </a:r>
            <a:r>
              <a:rPr lang="en-US" sz="2900" dirty="0" err="1">
                <a:latin typeface="Arial" panose="020B0604020202020204" pitchFamily="34" charset="0"/>
                <a:cs typeface="Arial" panose="020B0604020202020204" pitchFamily="34" charset="0"/>
              </a:rPr>
              <a:t>utilised</a:t>
            </a:r>
            <a:r>
              <a:rPr lang="en-US" sz="2900" dirty="0">
                <a:latin typeface="Arial" panose="020B0604020202020204" pitchFamily="34" charset="0"/>
                <a:cs typeface="Arial" panose="020B0604020202020204" pitchFamily="34" charset="0"/>
              </a:rPr>
              <a:t> in conjunction with each other to enable complex, dynamic features as well as user-friendly UI features and characteristics.</a:t>
            </a:r>
          </a:p>
        </p:txBody>
      </p:sp>
      <p:sp>
        <p:nvSpPr>
          <p:cNvPr id="6" name="Title 1">
            <a:extLst>
              <a:ext uri="{FF2B5EF4-FFF2-40B4-BE49-F238E27FC236}">
                <a16:creationId xmlns:a16="http://schemas.microsoft.com/office/drawing/2014/main" id="{EE2FFFF8-D70B-B284-865C-5C1AC7A4038E}"/>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Reflections and Lessons Learned</a:t>
            </a:r>
            <a:endParaRPr lang="en-ZA" dirty="0">
              <a:solidFill>
                <a:schemeClr val="bg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C12E1D7A-A52D-ABB5-0925-7FEAA53C0E06}"/>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203433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0000"/>
                <a:lumOff val="40000"/>
              </a:schemeClr>
            </a:gs>
            <a:gs pos="100000">
              <a:schemeClr val="accent5">
                <a:lumMod val="60000"/>
                <a:lumOff val="40000"/>
              </a:schemeClr>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EA73C9-A0FE-64F5-3A0C-223FBE5D0DF3}"/>
              </a:ext>
            </a:extLst>
          </p:cNvPr>
          <p:cNvSpPr>
            <a:spLocks noGrp="1"/>
          </p:cNvSpPr>
          <p:nvPr>
            <p:ph idx="1"/>
          </p:nvPr>
        </p:nvSpPr>
        <p:spPr>
          <a:xfrm>
            <a:off x="1086644" y="1952786"/>
            <a:ext cx="10018713" cy="4324028"/>
          </a:xfrm>
          <a:prstGeom prst="roundRect">
            <a:avLst/>
          </a:prstGeom>
          <a:solidFill>
            <a:schemeClr val="bg1"/>
          </a:solidFill>
          <a:effectLst>
            <a:outerShdw blurRad="50800" dist="38100" dir="2700000" algn="tl" rotWithShape="0">
              <a:prstClr val="black">
                <a:alpha val="40000"/>
              </a:prstClr>
            </a:outerShdw>
          </a:effectLst>
        </p:spPr>
        <p:txBody>
          <a:bodyPr anchor="ctr">
            <a:normAutofit fontScale="92500" lnSpcReduction="20000"/>
          </a:bodyPr>
          <a:lstStyle/>
          <a:p>
            <a:pPr>
              <a:spcBef>
                <a:spcPts val="2000"/>
              </a:spcBef>
            </a:pPr>
            <a:r>
              <a:rPr lang="en-US" dirty="0">
                <a:latin typeface="Arial" panose="020B0604020202020204" pitchFamily="34" charset="0"/>
                <a:cs typeface="Arial" panose="020B0604020202020204" pitchFamily="34" charset="0"/>
              </a:rPr>
              <a:t>This platform has alleviated the distrust that surrounds online marketplace platforms through collaboration and communication features between users, security mechanisms for sensitive data as well as reliability with input validation. Additionally, it can assist in strengthening the local economy by providing a new method for small businesses to branch outside their local community.</a:t>
            </a:r>
            <a:endParaRPr lang="en-ZA" dirty="0">
              <a:latin typeface="Arial" panose="020B0604020202020204" pitchFamily="34" charset="0"/>
              <a:cs typeface="Arial" panose="020B0604020202020204" pitchFamily="34" charset="0"/>
            </a:endParaRPr>
          </a:p>
          <a:p>
            <a:pPr>
              <a:spcBef>
                <a:spcPts val="2000"/>
              </a:spcBef>
            </a:pPr>
            <a:r>
              <a:rPr lang="en-ZA" dirty="0">
                <a:latin typeface="Arial" panose="020B0604020202020204" pitchFamily="34" charset="0"/>
                <a:cs typeface="Arial" panose="020B0604020202020204" pitchFamily="34" charset="0"/>
              </a:rPr>
              <a:t>This project demonstrates my ability to create a functioning C2C e-commerce website utilising various web technologies (HTML, PHP, CSS, etc.) with basic e-commerce features (create listings, purchasing deliveries) and new features (chat functionality) that compliment it.</a:t>
            </a: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580E6A64-83D2-61A8-E9C9-4728A801C6F9}"/>
              </a:ext>
            </a:extLst>
          </p:cNvPr>
          <p:cNvSpPr>
            <a:spLocks noGrp="1"/>
          </p:cNvSpPr>
          <p:nvPr>
            <p:ph type="title"/>
          </p:nvPr>
        </p:nvSpPr>
        <p:spPr>
          <a:xfrm>
            <a:off x="0" y="0"/>
            <a:ext cx="12192000" cy="1325563"/>
          </a:xfrm>
          <a:gradFill flip="none" rotWithShape="1">
            <a:gsLst>
              <a:gs pos="50000">
                <a:schemeClr val="tx2">
                  <a:lumMod val="75000"/>
                  <a:lumOff val="25000"/>
                </a:schemeClr>
              </a:gs>
              <a:gs pos="0">
                <a:srgbClr val="008080"/>
              </a:gs>
              <a:gs pos="100000">
                <a:schemeClr val="accent5">
                  <a:lumMod val="50000"/>
                </a:schemeClr>
              </a:gs>
            </a:gsLst>
            <a:lin ang="0" scaled="1"/>
            <a:tileRect/>
          </a:gradFill>
          <a:ln w="44450">
            <a:noFill/>
          </a:ln>
        </p:spPr>
        <p:txBody>
          <a:bodyPr/>
          <a:lstStyle/>
          <a:p>
            <a:pPr algn="ctr"/>
            <a:r>
              <a:rPr lang="en-US" dirty="0">
                <a:solidFill>
                  <a:schemeClr val="bg1"/>
                </a:solidFill>
                <a:latin typeface="Arial" panose="020B0604020202020204" pitchFamily="34" charset="0"/>
                <a:cs typeface="Arial" panose="020B0604020202020204" pitchFamily="34" charset="0"/>
              </a:rPr>
              <a:t>Conclusion</a:t>
            </a:r>
            <a:endParaRPr lang="en-ZA" dirty="0">
              <a:solidFill>
                <a:schemeClr val="bg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90A9C6D4-BC3D-5003-7461-FDFC9D4CC76B}"/>
              </a:ext>
            </a:extLst>
          </p:cNvPr>
          <p:cNvCxnSpPr>
            <a:cxnSpLocks/>
          </p:cNvCxnSpPr>
          <p:nvPr/>
        </p:nvCxnSpPr>
        <p:spPr>
          <a:xfrm>
            <a:off x="0" y="1332854"/>
            <a:ext cx="12192000" cy="0"/>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04556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617</TotalTime>
  <Words>1043</Words>
  <Application>Microsoft Office PowerPoint</Application>
  <PresentationFormat>Widescreen</PresentationFormat>
  <Paragraphs>100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C2C Marketplace for local community members </vt:lpstr>
      <vt:lpstr>Overview</vt:lpstr>
      <vt:lpstr>PowerPoint Presentation</vt:lpstr>
      <vt:lpstr>Non-functional Requirements</vt:lpstr>
      <vt:lpstr>Technologies Used</vt:lpstr>
      <vt:lpstr>System Architecture</vt:lpstr>
      <vt:lpstr>Development Process (SDLC-based)</vt:lpstr>
      <vt:lpstr>Key Features Demo</vt:lpstr>
      <vt:lpstr>Testing and Security</vt:lpstr>
      <vt:lpstr>User Friendliness and UI Design</vt:lpstr>
      <vt:lpstr>Reflections and Lessons Learned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Keenan Batista</dc:creator>
  <cp:lastModifiedBy>Keenan Batista</cp:lastModifiedBy>
  <cp:revision>649</cp:revision>
  <dcterms:created xsi:type="dcterms:W3CDTF">2026-06-16T15:44:54Z</dcterms:created>
  <dcterms:modified xsi:type="dcterms:W3CDTF">2026-06-19T16:17:32Z</dcterms:modified>
</cp:coreProperties>
</file>